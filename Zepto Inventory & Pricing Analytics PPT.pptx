
<file path=[Content_Types].xml><?xml version="1.0" encoding="utf-8"?>
<Types xmlns="http://schemas.openxmlformats.org/package/2006/content-types">
  <Default Extension="OAMJ_2WZr79RONvdbQK5wwHaHa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6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AMJ_2WZr79RONvdbQK5wwHaHa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8B4DFF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739900"/>
            <a:ext cx="729919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136140"/>
            <a:ext cx="7299198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94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Zepto Inventory &amp; Pricing Analytics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812800" y="3518853"/>
            <a:ext cx="536321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D8D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SQL to turn product data into simple business insights.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4278313"/>
            <a:ext cx="762000" cy="25400"/>
          </a:xfrm>
          <a:prstGeom prst="rect">
            <a:avLst/>
          </a:prstGeom>
          <a:solidFill>
            <a:srgbClr val="8B4DFF"/>
          </a:solidFill>
          <a:ln/>
        </p:spPr>
      </p:sp>
      <p:sp>
        <p:nvSpPr>
          <p:cNvPr id="8" name="Text 5"/>
          <p:cNvSpPr/>
          <p:nvPr/>
        </p:nvSpPr>
        <p:spPr>
          <a:xfrm>
            <a:off x="9804400" y="7237730"/>
            <a:ext cx="1174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959975" y="7237730"/>
            <a:ext cx="1174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4614347"/>
            <a:ext cx="7500563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40"/>
              </a:lnSpc>
              <a:buNone/>
            </a:pPr>
            <a:r>
              <a:rPr lang="en-US" sz="3100" b="1" kern="0" spc="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MOHD AHMED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795814" y="5138857"/>
            <a:ext cx="259445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500" dirty="0">
                <a:solidFill>
                  <a:srgbClr val="C9B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Scientist</a:t>
            </a:r>
            <a:endParaRPr lang="en-US" sz="2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0FBC12-5D70-12C7-F33D-D518CD356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75" y="1367217"/>
            <a:ext cx="3494344" cy="3494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WE ANALYZING?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Zepto is a quick-commerce app — order online, get it in minutes.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811780"/>
            <a:ext cx="470916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Behind every product on the app sits a small record of facts: its price, its discount, how much is in stock, which category it belongs to, and how much it weighs.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130040"/>
            <a:ext cx="470916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this everyday product data reveal useful business insights?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72375" y="2385060"/>
            <a:ext cx="3803650" cy="2760980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8280" y="2640965"/>
            <a:ext cx="33905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Amul Gold Milk 500 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28280" y="3034665"/>
            <a:ext cx="3291840" cy="6350"/>
          </a:xfrm>
          <a:prstGeom prst="rect">
            <a:avLst/>
          </a:prstGeom>
          <a:solidFill>
            <a:srgbClr val="D8D2E8"/>
          </a:solidFill>
          <a:ln/>
        </p:spPr>
      </p:sp>
      <p:sp>
        <p:nvSpPr>
          <p:cNvPr id="9" name="Text 7"/>
          <p:cNvSpPr/>
          <p:nvPr/>
        </p:nvSpPr>
        <p:spPr>
          <a:xfrm>
            <a:off x="7828280" y="3168015"/>
            <a:ext cx="3889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811193" y="3168015"/>
            <a:ext cx="35972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28280" y="3526155"/>
            <a:ext cx="7716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77550" y="3526155"/>
            <a:ext cx="2933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28280" y="3884295"/>
            <a:ext cx="10496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 price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825559" y="3884295"/>
            <a:ext cx="3453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28280" y="4242435"/>
            <a:ext cx="6323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49188" y="4242435"/>
            <a:ext cx="52173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 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28280" y="4629785"/>
            <a:ext cx="4987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70002" y="4600575"/>
            <a:ext cx="950119" cy="289560"/>
          </a:xfrm>
          <a:prstGeom prst="roundRect">
            <a:avLst>
              <a:gd name="adj" fmla="val 17544"/>
            </a:avLst>
          </a:prstGeom>
          <a:solidFill>
            <a:srgbClr val="E7F8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271602" y="4638675"/>
            <a:ext cx="7977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6286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 card shown for illustration.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 are 3,731 products. Nobody can eyeball all that.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56411"/>
            <a:ext cx="5258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ask simple questions: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137411"/>
            <a:ext cx="525856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products have the biggest discounts?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expensive items are out of stock?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is the most inventory value?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products give the best value?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categories discount the most?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76975" y="2588261"/>
            <a:ext cx="5099050" cy="864870"/>
          </a:xfrm>
          <a:prstGeom prst="roundRect">
            <a:avLst>
              <a:gd name="adj" fmla="val 1138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82080" y="2767966"/>
            <a:ext cx="48295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Thousands of rows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82080" y="3060066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product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7219" y="3608705"/>
            <a:ext cx="525856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 SQL  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73800" y="4152266"/>
            <a:ext cx="5105400" cy="861060"/>
          </a:xfrm>
          <a:prstGeom prst="roundRect">
            <a:avLst>
              <a:gd name="adj" fmla="val 11799"/>
            </a:avLst>
          </a:prstGeom>
          <a:solidFill>
            <a:srgbClr val="5A2D9C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0" y="4330066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Useful answers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7000" y="4622166"/>
            <a:ext cx="48399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8D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clear, simple insights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Nine facts about every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4186"/>
            <a:ext cx="3431064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88491"/>
            <a:ext cx="3163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137411"/>
            <a:ext cx="316380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0389" y="1734186"/>
            <a:ext cx="3431143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0094" y="1888491"/>
            <a:ext cx="316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60094" y="2137411"/>
            <a:ext cx="316388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Type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44882" y="1734186"/>
            <a:ext cx="3431143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4587" y="1888491"/>
            <a:ext cx="316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4587" y="2137411"/>
            <a:ext cx="316388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price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975" y="2629536"/>
            <a:ext cx="3431064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680" y="2783841"/>
            <a:ext cx="3163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Discount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5680" y="3032761"/>
            <a:ext cx="316380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drop 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0389" y="2629536"/>
            <a:ext cx="3431143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0094" y="2783841"/>
            <a:ext cx="316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 price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60094" y="3032761"/>
            <a:ext cx="316388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pay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44882" y="2629536"/>
            <a:ext cx="3431143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4587" y="2783841"/>
            <a:ext cx="316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4587" y="3032761"/>
            <a:ext cx="316388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units available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5975" y="3524886"/>
            <a:ext cx="3431064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680" y="3679191"/>
            <a:ext cx="3163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5680" y="3928111"/>
            <a:ext cx="3163803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grams per pack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0389" y="3524886"/>
            <a:ext cx="3431143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0094" y="3679191"/>
            <a:ext cx="316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status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60094" y="3928111"/>
            <a:ext cx="316388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/ out of stock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44882" y="3524886"/>
            <a:ext cx="3431143" cy="762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4587" y="3679191"/>
            <a:ext cx="3163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 qty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24587" y="3928111"/>
            <a:ext cx="3163885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items per pack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2800" y="4518661"/>
            <a:ext cx="3420507" cy="736600"/>
          </a:xfrm>
          <a:prstGeom prst="roundRect">
            <a:avLst>
              <a:gd name="adj" fmla="val 13793"/>
            </a:avLst>
          </a:prstGeom>
          <a:solidFill>
            <a:srgbClr val="3B1A6B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4683761"/>
            <a:ext cx="104409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3,731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110899" y="4856480"/>
            <a:ext cx="6800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B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85707" y="4518661"/>
            <a:ext cx="3420586" cy="736600"/>
          </a:xfrm>
          <a:prstGeom prst="roundRect">
            <a:avLst>
              <a:gd name="adj" fmla="val 13793"/>
            </a:avLst>
          </a:prstGeom>
          <a:solidFill>
            <a:srgbClr val="5A2D9C"/>
          </a:solidFill>
          <a:ln/>
        </p:spPr>
      </p:sp>
      <p:sp>
        <p:nvSpPr>
          <p:cNvPr id="35" name="Text 33"/>
          <p:cNvSpPr/>
          <p:nvPr/>
        </p:nvSpPr>
        <p:spPr>
          <a:xfrm>
            <a:off x="4588907" y="4683761"/>
            <a:ext cx="48895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5128657" y="4856480"/>
            <a:ext cx="93313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8D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958693" y="4518661"/>
            <a:ext cx="3420507" cy="736600"/>
          </a:xfrm>
          <a:prstGeom prst="roundRect">
            <a:avLst>
              <a:gd name="adj" fmla="val 13793"/>
            </a:avLst>
          </a:prstGeom>
          <a:solidFill>
            <a:srgbClr val="8B4DFF"/>
          </a:solidFill>
          <a:ln/>
        </p:spPr>
      </p:sp>
      <p:sp>
        <p:nvSpPr>
          <p:cNvPr id="38" name="Text 36"/>
          <p:cNvSpPr/>
          <p:nvPr/>
        </p:nvSpPr>
        <p:spPr>
          <a:xfrm>
            <a:off x="8161893" y="4683761"/>
            <a:ext cx="112617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1,680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338866" y="4856480"/>
            <a:ext cx="14091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1E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unique products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Like tidying a shopping list before you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4186"/>
            <a:ext cx="2345611" cy="773430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1888489"/>
            <a:ext cx="20981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0280" y="2157732"/>
            <a:ext cx="209811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3,732 rows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6361" y="1969771"/>
            <a:ext cx="23709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57429" y="1734186"/>
            <a:ext cx="2345690" cy="773430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1734" y="1888489"/>
            <a:ext cx="20981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for problems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11734" y="2157732"/>
            <a:ext cx="20981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or invalid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07894" y="1969771"/>
            <a:ext cx="23709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8962" y="1734186"/>
            <a:ext cx="2345690" cy="773430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3267" y="1888489"/>
            <a:ext cx="20981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&amp; remove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53267" y="2157732"/>
            <a:ext cx="20981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bad prices &amp;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49427" y="1969771"/>
            <a:ext cx="23709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37320" y="1731011"/>
            <a:ext cx="2341880" cy="779780"/>
          </a:xfrm>
          <a:prstGeom prst="roundRect">
            <a:avLst>
              <a:gd name="adj" fmla="val 11401"/>
            </a:avLst>
          </a:prstGeom>
          <a:solidFill>
            <a:srgbClr val="5A2D9C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888489"/>
            <a:ext cx="20981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9720" y="2157732"/>
            <a:ext cx="20981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D8D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&amp; usable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800" y="4008757"/>
            <a:ext cx="171831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D8D2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3,732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2632710" y="4145914"/>
            <a:ext cx="3795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113881" y="3902075"/>
            <a:ext cx="191824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3,731</a:t>
            </a:r>
            <a:endParaRPr lang="en-US" sz="6000" dirty="0"/>
          </a:p>
        </p:txBody>
      </p:sp>
      <p:sp>
        <p:nvSpPr>
          <p:cNvPr id="22" name="Shape 20"/>
          <p:cNvSpPr/>
          <p:nvPr/>
        </p:nvSpPr>
        <p:spPr>
          <a:xfrm>
            <a:off x="6197600" y="3522982"/>
            <a:ext cx="5181600" cy="716915"/>
          </a:xfrm>
          <a:prstGeom prst="roundRect">
            <a:avLst>
              <a:gd name="adj" fmla="val 8857"/>
            </a:avLst>
          </a:prstGeom>
          <a:solidFill>
            <a:srgbClr val="FDE9E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3000" y="3522982"/>
            <a:ext cx="0" cy="716915"/>
          </a:xfrm>
          <a:prstGeom prst="line">
            <a:avLst/>
          </a:prstGeom>
          <a:noFill/>
          <a:ln w="50800">
            <a:solidFill>
              <a:srgbClr val="FF5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3500" y="3649982"/>
            <a:ext cx="4944618" cy="488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Removed </a:t>
            </a:r>
            <a:r>
              <a:rPr lang="en-US" sz="135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item</a:t>
            </a:r>
            <a:r>
              <a:rPr lang="en-US" sz="13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MRP = ₹0 — </a:t>
            </a:r>
            <a:r>
              <a:rPr lang="en-US" sz="1350" i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Cherry Blossom Liquid Shoe Polish.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97600" y="4341496"/>
            <a:ext cx="5181600" cy="716915"/>
          </a:xfrm>
          <a:prstGeom prst="roundRect">
            <a:avLst>
              <a:gd name="adj" fmla="val 8857"/>
            </a:avLst>
          </a:prstGeom>
          <a:solidFill>
            <a:srgbClr val="EDE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000" y="4341496"/>
            <a:ext cx="0" cy="716915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3500" y="4468496"/>
            <a:ext cx="4944618" cy="488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Prices were stored in </a:t>
            </a:r>
            <a:r>
              <a:rPr lang="en-US" sz="135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paise</a:t>
            </a:r>
            <a:r>
              <a:rPr lang="en-US" sz="13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converted to </a:t>
            </a:r>
            <a:r>
              <a:rPr lang="en-US" sz="135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rupees</a:t>
            </a:r>
            <a:r>
              <a:rPr lang="en-US" sz="13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(÷100).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A2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914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SQL HELPS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293699"/>
            <a:ext cx="9156700" cy="903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like asking a super-fast shopkeeper about 3,700 products at once.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3527028"/>
            <a:ext cx="2270204" cy="1339532"/>
          </a:xfrm>
          <a:prstGeom prst="roundRect">
            <a:avLst>
              <a:gd name="adj" fmla="val 8533"/>
            </a:avLst>
          </a:prstGeom>
          <a:solidFill>
            <a:srgbClr val="3B1A6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3755628"/>
            <a:ext cx="191971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ask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16000" y="4121389"/>
            <a:ext cx="1919719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plain business 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10004" y="4001216"/>
            <a:ext cx="29194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78146" y="3527028"/>
            <a:ext cx="2270284" cy="1339532"/>
          </a:xfrm>
          <a:prstGeom prst="roundRect">
            <a:avLst>
              <a:gd name="adj" fmla="val 8533"/>
            </a:avLst>
          </a:prstGeom>
          <a:solidFill>
            <a:srgbClr val="3B1A6B"/>
          </a:solidFill>
          <a:ln/>
        </p:spPr>
      </p:sp>
      <p:sp>
        <p:nvSpPr>
          <p:cNvPr id="9" name="Text 7"/>
          <p:cNvSpPr/>
          <p:nvPr/>
        </p:nvSpPr>
        <p:spPr>
          <a:xfrm>
            <a:off x="3781346" y="3755628"/>
            <a:ext cx="19198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searches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81346" y="4121389"/>
            <a:ext cx="191980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scans every product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75429" y="4001216"/>
            <a:ext cx="29194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43571" y="3527028"/>
            <a:ext cx="2270204" cy="1339532"/>
          </a:xfrm>
          <a:prstGeom prst="roundRect">
            <a:avLst>
              <a:gd name="adj" fmla="val 8533"/>
            </a:avLst>
          </a:prstGeom>
          <a:solidFill>
            <a:srgbClr val="3B1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46771" y="3755628"/>
            <a:ext cx="191971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calculates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6771" y="4121389"/>
            <a:ext cx="1919719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B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adds, averages, sorts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40775" y="4001216"/>
            <a:ext cx="291941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08916" y="3527028"/>
            <a:ext cx="2270284" cy="1339532"/>
          </a:xfrm>
          <a:prstGeom prst="roundRect">
            <a:avLst>
              <a:gd name="adj" fmla="val 8533"/>
            </a:avLst>
          </a:prstGeom>
          <a:solidFill>
            <a:srgbClr val="8B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9312116" y="3755628"/>
            <a:ext cx="191980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get an answer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12116" y="4423649"/>
            <a:ext cx="1919800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F1E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seconds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1 · BIGGEST DISCOUNTS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1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products have the biggest price drops?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66239"/>
            <a:ext cx="4970780" cy="465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2"/>
              </a:lnSpc>
              <a:buNone/>
            </a:pPr>
            <a:r>
              <a:rPr lang="en-US" sz="1237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line products up from the biggest discount to the smallest and keep the top of the list.</a:t>
            </a:r>
            <a:endParaRPr lang="en-US" sz="1237" dirty="0"/>
          </a:p>
        </p:txBody>
      </p:sp>
      <p:sp>
        <p:nvSpPr>
          <p:cNvPr id="5" name="Shape 3"/>
          <p:cNvSpPr/>
          <p:nvPr/>
        </p:nvSpPr>
        <p:spPr>
          <a:xfrm>
            <a:off x="812800" y="2245677"/>
            <a:ext cx="4826000" cy="2370058"/>
          </a:xfrm>
          <a:prstGeom prst="roundRect">
            <a:avLst>
              <a:gd name="adj" fmla="val 4287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23477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DISTINCT</a:t>
            </a:r>
            <a:endParaRPr lang="en-US" sz="1046" dirty="0"/>
          </a:p>
        </p:txBody>
      </p:sp>
      <p:sp>
        <p:nvSpPr>
          <p:cNvPr id="7" name="Text 5"/>
          <p:cNvSpPr/>
          <p:nvPr/>
        </p:nvSpPr>
        <p:spPr>
          <a:xfrm>
            <a:off x="1016000" y="2624931"/>
            <a:ext cx="4552188" cy="226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name, mrp, discountPercent</a:t>
            </a:r>
            <a:endParaRPr lang="en-US" sz="1046" dirty="0"/>
          </a:p>
        </p:txBody>
      </p:sp>
      <p:sp>
        <p:nvSpPr>
          <p:cNvPr id="8" name="Text 6"/>
          <p:cNvSpPr/>
          <p:nvPr/>
        </p:nvSpPr>
        <p:spPr>
          <a:xfrm>
            <a:off x="1016000" y="2826305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1046" dirty="0"/>
          </a:p>
        </p:txBody>
      </p:sp>
      <p:sp>
        <p:nvSpPr>
          <p:cNvPr id="9" name="Text 7"/>
          <p:cNvSpPr/>
          <p:nvPr/>
        </p:nvSpPr>
        <p:spPr>
          <a:xfrm>
            <a:off x="1016000" y="3027759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1046" dirty="0"/>
          </a:p>
        </p:txBody>
      </p:sp>
      <p:sp>
        <p:nvSpPr>
          <p:cNvPr id="10" name="Text 8"/>
          <p:cNvSpPr/>
          <p:nvPr/>
        </p:nvSpPr>
        <p:spPr>
          <a:xfrm>
            <a:off x="1016000" y="3229214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1046" dirty="0"/>
          </a:p>
        </p:txBody>
      </p:sp>
      <p:sp>
        <p:nvSpPr>
          <p:cNvPr id="11" name="Text 9"/>
          <p:cNvSpPr/>
          <p:nvPr/>
        </p:nvSpPr>
        <p:spPr>
          <a:xfrm>
            <a:off x="1016000" y="3430668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discountPercent</a:t>
            </a:r>
            <a:endParaRPr lang="en-US" sz="1046" dirty="0"/>
          </a:p>
        </p:txBody>
      </p:sp>
      <p:sp>
        <p:nvSpPr>
          <p:cNvPr id="12" name="Text 10"/>
          <p:cNvSpPr/>
          <p:nvPr/>
        </p:nvSpPr>
        <p:spPr>
          <a:xfrm>
            <a:off x="1016000" y="3632122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endParaRPr lang="en-US" sz="1046" dirty="0"/>
          </a:p>
        </p:txBody>
      </p:sp>
      <p:sp>
        <p:nvSpPr>
          <p:cNvPr id="13" name="Text 11"/>
          <p:cNvSpPr/>
          <p:nvPr/>
        </p:nvSpPr>
        <p:spPr>
          <a:xfrm>
            <a:off x="1016000" y="3833574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</a:t>
            </a:r>
            <a:endParaRPr lang="en-US" sz="1046" dirty="0"/>
          </a:p>
        </p:txBody>
      </p:sp>
      <p:sp>
        <p:nvSpPr>
          <p:cNvPr id="14" name="Text 12"/>
          <p:cNvSpPr/>
          <p:nvPr/>
        </p:nvSpPr>
        <p:spPr>
          <a:xfrm>
            <a:off x="1016000" y="4035028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46" dirty="0"/>
          </a:p>
        </p:txBody>
      </p:sp>
      <p:sp>
        <p:nvSpPr>
          <p:cNvPr id="15" name="Text 13"/>
          <p:cNvSpPr/>
          <p:nvPr/>
        </p:nvSpPr>
        <p:spPr>
          <a:xfrm>
            <a:off x="1016000" y="4236482"/>
            <a:ext cx="4552188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04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46" dirty="0"/>
          </a:p>
        </p:txBody>
      </p:sp>
      <p:sp>
        <p:nvSpPr>
          <p:cNvPr id="16" name="Text 14"/>
          <p:cNvSpPr/>
          <p:nvPr/>
        </p:nvSpPr>
        <p:spPr>
          <a:xfrm>
            <a:off x="812800" y="4755437"/>
            <a:ext cx="497078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3"/>
              </a:lnSpc>
              <a:buNone/>
            </a:pPr>
            <a:r>
              <a:rPr lang="en-US" sz="1024" b="1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does:</a:t>
            </a:r>
            <a:r>
              <a:rPr lang="en-US" sz="1024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ORDER BY arranges the rows, DESC puts the biggest first, LIMIT 10 keeps the top 10.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5937250" y="2458721"/>
            <a:ext cx="19621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Dukes Waffy Wafers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2453007"/>
            <a:ext cx="1943100" cy="215900"/>
          </a:xfrm>
          <a:prstGeom prst="roundRect">
            <a:avLst>
              <a:gd name="adj" fmla="val 23529"/>
            </a:avLst>
          </a:prstGeom>
          <a:solidFill>
            <a:srgbClr val="FF5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45700" y="2445386"/>
            <a:ext cx="3638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5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37250" y="2791461"/>
            <a:ext cx="19621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RRO Ricotta Cheese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2785746"/>
            <a:ext cx="1905000" cy="215900"/>
          </a:xfrm>
          <a:prstGeom prst="roundRect">
            <a:avLst>
              <a:gd name="adj" fmla="val 23529"/>
            </a:avLst>
          </a:prstGeom>
          <a:solidFill>
            <a:srgbClr val="5A2D9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07600" y="2778125"/>
            <a:ext cx="4094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37250" y="3124200"/>
            <a:ext cx="19621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RRO Cheddar Cheese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3118486"/>
            <a:ext cx="1905000" cy="215900"/>
          </a:xfrm>
          <a:prstGeom prst="roundRect">
            <a:avLst>
              <a:gd name="adj" fmla="val 23529"/>
            </a:avLst>
          </a:prstGeom>
          <a:solidFill>
            <a:srgbClr val="5A2D9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07600" y="3110864"/>
            <a:ext cx="4094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37250" y="3456939"/>
            <a:ext cx="19621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RRO Mozzarella Cheese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3451225"/>
            <a:ext cx="1905000" cy="215900"/>
          </a:xfrm>
          <a:prstGeom prst="roundRect">
            <a:avLst>
              <a:gd name="adj" fmla="val 23529"/>
            </a:avLst>
          </a:prstGeom>
          <a:solidFill>
            <a:srgbClr val="5A2D9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07600" y="3443607"/>
            <a:ext cx="4094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37250" y="3789682"/>
            <a:ext cx="19621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Moi Soi Sichuan Chilli Oil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3783964"/>
            <a:ext cx="1905000" cy="215900"/>
          </a:xfrm>
          <a:prstGeom prst="roundRect">
            <a:avLst>
              <a:gd name="adj" fmla="val 23529"/>
            </a:avLst>
          </a:prstGeom>
          <a:solidFill>
            <a:srgbClr val="5A2D9C"/>
          </a:solidFill>
          <a:ln/>
        </p:spPr>
      </p:sp>
      <p:sp>
        <p:nvSpPr>
          <p:cNvPr id="31" name="Text 29"/>
          <p:cNvSpPr/>
          <p:nvPr/>
        </p:nvSpPr>
        <p:spPr>
          <a:xfrm>
            <a:off x="10007600" y="3776346"/>
            <a:ext cx="4094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37250" y="4122421"/>
            <a:ext cx="19621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Epigamia Fruit Yogurt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01000" y="4116707"/>
            <a:ext cx="1905000" cy="215900"/>
          </a:xfrm>
          <a:prstGeom prst="roundRect">
            <a:avLst>
              <a:gd name="adj" fmla="val 23529"/>
            </a:avLst>
          </a:prstGeom>
          <a:solidFill>
            <a:srgbClr val="5A2D9C"/>
          </a:solidFill>
          <a:ln/>
        </p:spPr>
      </p:sp>
      <p:sp>
        <p:nvSpPr>
          <p:cNvPr id="34" name="Text 32"/>
          <p:cNvSpPr/>
          <p:nvPr/>
        </p:nvSpPr>
        <p:spPr>
          <a:xfrm>
            <a:off x="10007600" y="4109086"/>
            <a:ext cx="4094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2800" y="5322571"/>
            <a:ext cx="10566400" cy="519430"/>
          </a:xfrm>
          <a:prstGeom prst="roundRect">
            <a:avLst>
              <a:gd name="adj" fmla="val 12225"/>
            </a:avLst>
          </a:prstGeom>
          <a:solidFill>
            <a:srgbClr val="EDE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838200" y="5322571"/>
            <a:ext cx="0" cy="519430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4100" y="5462271"/>
            <a:ext cx="1043863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highest discount reaches </a:t>
            </a: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51%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the top drops cluster in cheese, yogurt and wafer products.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2 · EXPENSIVE &amp; OUT OF STOCK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1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expensive items are out of stock?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66239"/>
            <a:ext cx="4709160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355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filter for products that are out of stock </a:t>
            </a:r>
            <a:r>
              <a:rPr lang="en-US" sz="1355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</a:t>
            </a:r>
            <a:r>
              <a:rPr lang="en-US" sz="1355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priced above ₹300 — the pricey items worth watching.</a:t>
            </a:r>
            <a:endParaRPr lang="en-US" sz="1355" dirty="0"/>
          </a:p>
        </p:txBody>
      </p:sp>
      <p:sp>
        <p:nvSpPr>
          <p:cNvPr id="5" name="Shape 3"/>
          <p:cNvSpPr/>
          <p:nvPr/>
        </p:nvSpPr>
        <p:spPr>
          <a:xfrm>
            <a:off x="812800" y="2304811"/>
            <a:ext cx="4572000" cy="2399665"/>
          </a:xfrm>
          <a:prstGeom prst="roundRect">
            <a:avLst>
              <a:gd name="adj" fmla="val 4234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82611"/>
            <a:ext cx="4290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DISTINCT</a:t>
            </a:r>
            <a:endParaRPr lang="en-US" sz="755" dirty="0"/>
          </a:p>
        </p:txBody>
      </p:sp>
      <p:sp>
        <p:nvSpPr>
          <p:cNvPr id="7" name="Text 5"/>
          <p:cNvSpPr/>
          <p:nvPr/>
        </p:nvSpPr>
        <p:spPr>
          <a:xfrm>
            <a:off x="1016000" y="2628661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name, mrp</a:t>
            </a:r>
            <a:endParaRPr lang="en-US" sz="755" dirty="0"/>
          </a:p>
        </p:txBody>
      </p:sp>
      <p:sp>
        <p:nvSpPr>
          <p:cNvPr id="8" name="Text 6"/>
          <p:cNvSpPr/>
          <p:nvPr/>
        </p:nvSpPr>
        <p:spPr>
          <a:xfrm>
            <a:off x="1016000" y="2774634"/>
            <a:ext cx="4290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755" dirty="0"/>
          </a:p>
        </p:txBody>
      </p:sp>
      <p:sp>
        <p:nvSpPr>
          <p:cNvPr id="9" name="Text 7"/>
          <p:cNvSpPr/>
          <p:nvPr/>
        </p:nvSpPr>
        <p:spPr>
          <a:xfrm>
            <a:off x="1016000" y="2920684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755" dirty="0"/>
          </a:p>
        </p:txBody>
      </p:sp>
      <p:sp>
        <p:nvSpPr>
          <p:cNvPr id="10" name="Text 8"/>
          <p:cNvSpPr/>
          <p:nvPr/>
        </p:nvSpPr>
        <p:spPr>
          <a:xfrm>
            <a:off x="1016000" y="3066653"/>
            <a:ext cx="4290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755" dirty="0"/>
          </a:p>
        </p:txBody>
      </p:sp>
      <p:sp>
        <p:nvSpPr>
          <p:cNvPr id="11" name="Text 9"/>
          <p:cNvSpPr/>
          <p:nvPr/>
        </p:nvSpPr>
        <p:spPr>
          <a:xfrm>
            <a:off x="1016000" y="3212703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outOfStock =</a:t>
            </a:r>
            <a:endParaRPr lang="en-US" sz="755" dirty="0"/>
          </a:p>
        </p:txBody>
      </p:sp>
      <p:sp>
        <p:nvSpPr>
          <p:cNvPr id="12" name="Text 10"/>
          <p:cNvSpPr/>
          <p:nvPr/>
        </p:nvSpPr>
        <p:spPr>
          <a:xfrm>
            <a:off x="1016000" y="3358676"/>
            <a:ext cx="4290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755" dirty="0"/>
          </a:p>
        </p:txBody>
      </p:sp>
      <p:sp>
        <p:nvSpPr>
          <p:cNvPr id="13" name="Text 11"/>
          <p:cNvSpPr/>
          <p:nvPr/>
        </p:nvSpPr>
        <p:spPr>
          <a:xfrm>
            <a:off x="1016000" y="3504726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</a:t>
            </a:r>
            <a:endParaRPr lang="en-US" sz="755" dirty="0"/>
          </a:p>
        </p:txBody>
      </p:sp>
      <p:sp>
        <p:nvSpPr>
          <p:cNvPr id="14" name="Text 12"/>
          <p:cNvSpPr/>
          <p:nvPr/>
        </p:nvSpPr>
        <p:spPr>
          <a:xfrm>
            <a:off x="1016000" y="3650695"/>
            <a:ext cx="4290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mrp &gt;</a:t>
            </a:r>
            <a:endParaRPr lang="en-US" sz="755" dirty="0"/>
          </a:p>
        </p:txBody>
      </p:sp>
      <p:sp>
        <p:nvSpPr>
          <p:cNvPr id="15" name="Text 13"/>
          <p:cNvSpPr/>
          <p:nvPr/>
        </p:nvSpPr>
        <p:spPr>
          <a:xfrm>
            <a:off x="1016000" y="3796745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</a:t>
            </a:r>
            <a:endParaRPr lang="en-US" sz="755" dirty="0"/>
          </a:p>
        </p:txBody>
      </p:sp>
      <p:sp>
        <p:nvSpPr>
          <p:cNvPr id="16" name="Text 14"/>
          <p:cNvSpPr/>
          <p:nvPr/>
        </p:nvSpPr>
        <p:spPr>
          <a:xfrm>
            <a:off x="1016000" y="3942714"/>
            <a:ext cx="4290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755" dirty="0"/>
          </a:p>
        </p:txBody>
      </p:sp>
      <p:sp>
        <p:nvSpPr>
          <p:cNvPr id="17" name="Text 15"/>
          <p:cNvSpPr/>
          <p:nvPr/>
        </p:nvSpPr>
        <p:spPr>
          <a:xfrm>
            <a:off x="1016000" y="4088767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mrp</a:t>
            </a:r>
            <a:endParaRPr lang="en-US" sz="755" dirty="0"/>
          </a:p>
        </p:txBody>
      </p:sp>
      <p:sp>
        <p:nvSpPr>
          <p:cNvPr id="18" name="Text 16"/>
          <p:cNvSpPr/>
          <p:nvPr/>
        </p:nvSpPr>
        <p:spPr>
          <a:xfrm>
            <a:off x="1016000" y="4234737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endParaRPr lang="en-US" sz="755" dirty="0"/>
          </a:p>
        </p:txBody>
      </p:sp>
      <p:sp>
        <p:nvSpPr>
          <p:cNvPr id="19" name="Text 17"/>
          <p:cNvSpPr/>
          <p:nvPr/>
        </p:nvSpPr>
        <p:spPr>
          <a:xfrm>
            <a:off x="1016000" y="4380706"/>
            <a:ext cx="4290568" cy="17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55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755" dirty="0"/>
          </a:p>
        </p:txBody>
      </p:sp>
      <p:sp>
        <p:nvSpPr>
          <p:cNvPr id="20" name="Text 18"/>
          <p:cNvSpPr/>
          <p:nvPr/>
        </p:nvSpPr>
        <p:spPr>
          <a:xfrm>
            <a:off x="812800" y="4844176"/>
            <a:ext cx="4709160" cy="30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7"/>
              </a:lnSpc>
              <a:buNone/>
            </a:pPr>
            <a:r>
              <a:rPr lang="en-US" sz="776" b="1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does:</a:t>
            </a:r>
            <a:r>
              <a:rPr lang="en-US" sz="776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keeps only rows that match both conditions; AND means both must be true.</a:t>
            </a:r>
            <a:endParaRPr lang="en-US" sz="776" dirty="0"/>
          </a:p>
        </p:txBody>
      </p:sp>
      <p:sp>
        <p:nvSpPr>
          <p:cNvPr id="21" name="Text 19"/>
          <p:cNvSpPr/>
          <p:nvPr/>
        </p:nvSpPr>
        <p:spPr>
          <a:xfrm>
            <a:off x="5740400" y="1821182"/>
            <a:ext cx="124325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5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7034450" y="2161539"/>
            <a:ext cx="220267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items out of stock overall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40400" y="2532382"/>
            <a:ext cx="58079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Watchlist — only 4 above ₹300: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743575" y="2859407"/>
            <a:ext cx="5632450" cy="463550"/>
          </a:xfrm>
          <a:prstGeom prst="roundRect">
            <a:avLst>
              <a:gd name="adj" fmla="val 15753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980057"/>
            <a:ext cx="17106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Patanjali Cow's Ghee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803175" y="2975611"/>
            <a:ext cx="4693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₹565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43575" y="3405507"/>
            <a:ext cx="5632450" cy="463550"/>
          </a:xfrm>
          <a:prstGeom prst="roundRect">
            <a:avLst>
              <a:gd name="adj" fmla="val 15753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526157"/>
            <a:ext cx="23148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MamyPoko Pants Diapers, XL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820003" y="3521711"/>
            <a:ext cx="4525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₹399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43575" y="3951607"/>
            <a:ext cx="5632450" cy="463550"/>
          </a:xfrm>
          <a:prstGeom prst="roundRect">
            <a:avLst>
              <a:gd name="adj" fmla="val 15753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072254"/>
            <a:ext cx="2515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Aashirvaad Atta w/ Multigrains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853658" y="4067814"/>
            <a:ext cx="41886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₹315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43575" y="4497704"/>
            <a:ext cx="5632450" cy="463550"/>
          </a:xfrm>
          <a:prstGeom prst="roundRect">
            <a:avLst>
              <a:gd name="adj" fmla="val 15753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4618354"/>
            <a:ext cx="20367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Everest Kashmiri Lal Chilli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853341" y="4613914"/>
            <a:ext cx="4191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₹310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2800" y="5322571"/>
            <a:ext cx="10566400" cy="519430"/>
          </a:xfrm>
          <a:prstGeom prst="roundRect">
            <a:avLst>
              <a:gd name="adj" fmla="val 12225"/>
            </a:avLst>
          </a:prstGeom>
          <a:solidFill>
            <a:srgbClr val="EDE7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38200" y="5322571"/>
            <a:ext cx="0" cy="519430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4100" y="5462271"/>
            <a:ext cx="1043863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these high-value, unavailable items are good candidates for restock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3 · WHERE THE VALUE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is inventory value concentrated?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3542"/>
            <a:ext cx="4709160" cy="408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078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each category we multiply selling price by quantity, then add it all up.</a:t>
            </a:r>
            <a:endParaRPr lang="en-US" sz="1078" dirty="0"/>
          </a:p>
        </p:txBody>
      </p:sp>
      <p:sp>
        <p:nvSpPr>
          <p:cNvPr id="5" name="Shape 3"/>
          <p:cNvSpPr/>
          <p:nvPr/>
        </p:nvSpPr>
        <p:spPr>
          <a:xfrm>
            <a:off x="812800" y="2163285"/>
            <a:ext cx="4572000" cy="2580719"/>
          </a:xfrm>
          <a:prstGeom prst="roundRect">
            <a:avLst>
              <a:gd name="adj" fmla="val 3937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2328385"/>
            <a:ext cx="4316730" cy="18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822" dirty="0"/>
          </a:p>
        </p:txBody>
      </p:sp>
      <p:sp>
        <p:nvSpPr>
          <p:cNvPr id="7" name="Text 5"/>
          <p:cNvSpPr/>
          <p:nvPr/>
        </p:nvSpPr>
        <p:spPr>
          <a:xfrm>
            <a:off x="1003300" y="2489200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category,</a:t>
            </a:r>
            <a:endParaRPr lang="en-US" sz="822" dirty="0"/>
          </a:p>
        </p:txBody>
      </p:sp>
      <p:sp>
        <p:nvSpPr>
          <p:cNvPr id="8" name="Text 6"/>
          <p:cNvSpPr/>
          <p:nvPr/>
        </p:nvSpPr>
        <p:spPr>
          <a:xfrm>
            <a:off x="1003300" y="2649934"/>
            <a:ext cx="4316730" cy="18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endParaRPr lang="en-US" sz="822" dirty="0"/>
          </a:p>
        </p:txBody>
      </p:sp>
      <p:sp>
        <p:nvSpPr>
          <p:cNvPr id="9" name="Text 7"/>
          <p:cNvSpPr/>
          <p:nvPr/>
        </p:nvSpPr>
        <p:spPr>
          <a:xfrm>
            <a:off x="1003300" y="2810749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(discountedSellingPrice * availableQuantity)</a:t>
            </a:r>
            <a:endParaRPr lang="en-US" sz="822" dirty="0"/>
          </a:p>
        </p:txBody>
      </p:sp>
      <p:sp>
        <p:nvSpPr>
          <p:cNvPr id="10" name="Text 8"/>
          <p:cNvSpPr/>
          <p:nvPr/>
        </p:nvSpPr>
        <p:spPr>
          <a:xfrm>
            <a:off x="1003300" y="2971484"/>
            <a:ext cx="4316730" cy="18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822" dirty="0"/>
          </a:p>
        </p:txBody>
      </p:sp>
      <p:sp>
        <p:nvSpPr>
          <p:cNvPr id="11" name="Text 9"/>
          <p:cNvSpPr/>
          <p:nvPr/>
        </p:nvSpPr>
        <p:spPr>
          <a:xfrm>
            <a:off x="1003300" y="3132299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est_value</a:t>
            </a:r>
            <a:endParaRPr lang="en-US" sz="822" dirty="0"/>
          </a:p>
        </p:txBody>
      </p:sp>
      <p:sp>
        <p:nvSpPr>
          <p:cNvPr id="12" name="Text 10"/>
          <p:cNvSpPr/>
          <p:nvPr/>
        </p:nvSpPr>
        <p:spPr>
          <a:xfrm>
            <a:off x="1003300" y="3293033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822" dirty="0"/>
          </a:p>
        </p:txBody>
      </p:sp>
      <p:sp>
        <p:nvSpPr>
          <p:cNvPr id="13" name="Text 11"/>
          <p:cNvSpPr/>
          <p:nvPr/>
        </p:nvSpPr>
        <p:spPr>
          <a:xfrm>
            <a:off x="1003300" y="3453767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822" dirty="0"/>
          </a:p>
        </p:txBody>
      </p:sp>
      <p:sp>
        <p:nvSpPr>
          <p:cNvPr id="14" name="Text 12"/>
          <p:cNvSpPr/>
          <p:nvPr/>
        </p:nvSpPr>
        <p:spPr>
          <a:xfrm>
            <a:off x="1003300" y="3614502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endParaRPr lang="en-US" sz="822" dirty="0"/>
          </a:p>
        </p:txBody>
      </p:sp>
      <p:sp>
        <p:nvSpPr>
          <p:cNvPr id="15" name="Text 13"/>
          <p:cNvSpPr/>
          <p:nvPr/>
        </p:nvSpPr>
        <p:spPr>
          <a:xfrm>
            <a:off x="1003300" y="3775236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</a:t>
            </a:r>
            <a:endParaRPr lang="en-US" sz="822" dirty="0"/>
          </a:p>
        </p:txBody>
      </p:sp>
      <p:sp>
        <p:nvSpPr>
          <p:cNvPr id="16" name="Text 14"/>
          <p:cNvSpPr/>
          <p:nvPr/>
        </p:nvSpPr>
        <p:spPr>
          <a:xfrm>
            <a:off x="1003300" y="3935971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822" dirty="0"/>
          </a:p>
        </p:txBody>
      </p:sp>
      <p:sp>
        <p:nvSpPr>
          <p:cNvPr id="17" name="Text 15"/>
          <p:cNvSpPr/>
          <p:nvPr/>
        </p:nvSpPr>
        <p:spPr>
          <a:xfrm>
            <a:off x="1003300" y="4096705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est_value</a:t>
            </a:r>
            <a:endParaRPr lang="en-US" sz="822" dirty="0"/>
          </a:p>
        </p:txBody>
      </p:sp>
      <p:sp>
        <p:nvSpPr>
          <p:cNvPr id="18" name="Text 16"/>
          <p:cNvSpPr/>
          <p:nvPr/>
        </p:nvSpPr>
        <p:spPr>
          <a:xfrm>
            <a:off x="1003300" y="4257439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endParaRPr lang="en-US" sz="822" dirty="0"/>
          </a:p>
        </p:txBody>
      </p:sp>
      <p:sp>
        <p:nvSpPr>
          <p:cNvPr id="19" name="Text 17"/>
          <p:cNvSpPr/>
          <p:nvPr/>
        </p:nvSpPr>
        <p:spPr>
          <a:xfrm>
            <a:off x="1003300" y="4418174"/>
            <a:ext cx="4316730" cy="18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822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822" dirty="0"/>
          </a:p>
        </p:txBody>
      </p:sp>
      <p:sp>
        <p:nvSpPr>
          <p:cNvPr id="20" name="Text 18"/>
          <p:cNvSpPr/>
          <p:nvPr/>
        </p:nvSpPr>
        <p:spPr>
          <a:xfrm>
            <a:off x="812800" y="4871008"/>
            <a:ext cx="4709160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does:</a:t>
            </a:r>
            <a:r>
              <a:rPr lang="en-US" sz="863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GROUP BY puts products into category groups; SUM adds up the value in each.</a:t>
            </a:r>
            <a:endParaRPr lang="en-US" sz="863" dirty="0"/>
          </a:p>
        </p:txBody>
      </p:sp>
      <p:sp>
        <p:nvSpPr>
          <p:cNvPr id="21" name="Text 19"/>
          <p:cNvSpPr/>
          <p:nvPr/>
        </p:nvSpPr>
        <p:spPr>
          <a:xfrm>
            <a:off x="5687060" y="2428559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Cooking Essentials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07300" y="2431101"/>
            <a:ext cx="1371600" cy="190500"/>
          </a:xfrm>
          <a:prstGeom prst="roundRect">
            <a:avLst>
              <a:gd name="adj" fmla="val 23333"/>
            </a:avLst>
          </a:prstGeom>
          <a:solidFill>
            <a:srgbClr val="5A2D9C"/>
          </a:solidFill>
          <a:ln/>
        </p:spPr>
      </p:sp>
      <p:sp>
        <p:nvSpPr>
          <p:cNvPr id="23" name="Text 21"/>
          <p:cNvSpPr/>
          <p:nvPr/>
        </p:nvSpPr>
        <p:spPr>
          <a:xfrm>
            <a:off x="9067800" y="2419666"/>
            <a:ext cx="5235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₹3.37L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87060" y="2724466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Munchies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07300" y="2727009"/>
            <a:ext cx="1371600" cy="190500"/>
          </a:xfrm>
          <a:prstGeom prst="roundRect">
            <a:avLst>
              <a:gd name="adj" fmla="val 23333"/>
            </a:avLst>
          </a:prstGeom>
          <a:solidFill>
            <a:srgbClr val="5A2D9C"/>
          </a:solidFill>
          <a:ln/>
        </p:spPr>
      </p:sp>
      <p:sp>
        <p:nvSpPr>
          <p:cNvPr id="26" name="Text 24"/>
          <p:cNvSpPr/>
          <p:nvPr/>
        </p:nvSpPr>
        <p:spPr>
          <a:xfrm>
            <a:off x="9067800" y="2715580"/>
            <a:ext cx="5235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₹3.37L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060" y="3020380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Paan Corner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07300" y="3022916"/>
            <a:ext cx="1098550" cy="190500"/>
          </a:xfrm>
          <a:prstGeom prst="roundRect">
            <a:avLst>
              <a:gd name="adj" fmla="val 23333"/>
            </a:avLst>
          </a:prstGeom>
          <a:solidFill>
            <a:srgbClr val="7A44C4"/>
          </a:solidFill>
          <a:ln/>
        </p:spPr>
      </p:sp>
      <p:sp>
        <p:nvSpPr>
          <p:cNvPr id="29" name="Text 27"/>
          <p:cNvSpPr/>
          <p:nvPr/>
        </p:nvSpPr>
        <p:spPr>
          <a:xfrm>
            <a:off x="8794750" y="3011488"/>
            <a:ext cx="4834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₹2.71L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87060" y="3316288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 Care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07300" y="3318830"/>
            <a:ext cx="1098550" cy="190500"/>
          </a:xfrm>
          <a:prstGeom prst="roundRect">
            <a:avLst>
              <a:gd name="adj" fmla="val 23333"/>
            </a:avLst>
          </a:prstGeom>
          <a:solidFill>
            <a:srgbClr val="7A44C4"/>
          </a:solidFill>
          <a:ln/>
        </p:spPr>
      </p:sp>
      <p:sp>
        <p:nvSpPr>
          <p:cNvPr id="32" name="Text 30"/>
          <p:cNvSpPr/>
          <p:nvPr/>
        </p:nvSpPr>
        <p:spPr>
          <a:xfrm>
            <a:off x="8794750" y="3307401"/>
            <a:ext cx="4834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₹2.71L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87060" y="3612201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Ice Cream &amp; Desserts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07300" y="3614738"/>
            <a:ext cx="908050" cy="190500"/>
          </a:xfrm>
          <a:prstGeom prst="roundRect">
            <a:avLst>
              <a:gd name="adj" fmla="val 23333"/>
            </a:avLst>
          </a:prstGeom>
          <a:solidFill>
            <a:srgbClr val="8B4DFF"/>
          </a:solidFill>
          <a:ln/>
        </p:spPr>
      </p:sp>
      <p:sp>
        <p:nvSpPr>
          <p:cNvPr id="35" name="Text 33"/>
          <p:cNvSpPr/>
          <p:nvPr/>
        </p:nvSpPr>
        <p:spPr>
          <a:xfrm>
            <a:off x="8604250" y="3603309"/>
            <a:ext cx="534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₹2.24L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87060" y="3908109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Chocolates &amp; Candies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07300" y="3910651"/>
            <a:ext cx="908050" cy="190500"/>
          </a:xfrm>
          <a:prstGeom prst="roundRect">
            <a:avLst>
              <a:gd name="adj" fmla="val 23333"/>
            </a:avLst>
          </a:prstGeom>
          <a:solidFill>
            <a:srgbClr val="8B4DFF"/>
          </a:solidFill>
          <a:ln/>
        </p:spPr>
      </p:sp>
      <p:sp>
        <p:nvSpPr>
          <p:cNvPr id="38" name="Text 36"/>
          <p:cNvSpPr/>
          <p:nvPr/>
        </p:nvSpPr>
        <p:spPr>
          <a:xfrm>
            <a:off x="8604250" y="3899216"/>
            <a:ext cx="534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₹2.24L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87060" y="4204016"/>
            <a:ext cx="1831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Packaged Food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07300" y="4206559"/>
            <a:ext cx="908050" cy="190500"/>
          </a:xfrm>
          <a:prstGeom prst="roundRect">
            <a:avLst>
              <a:gd name="adj" fmla="val 23333"/>
            </a:avLst>
          </a:prstGeom>
          <a:solidFill>
            <a:srgbClr val="8B4DFF"/>
          </a:solidFill>
          <a:ln/>
        </p:spPr>
      </p:sp>
      <p:sp>
        <p:nvSpPr>
          <p:cNvPr id="41" name="Text 39"/>
          <p:cNvSpPr/>
          <p:nvPr/>
        </p:nvSpPr>
        <p:spPr>
          <a:xfrm>
            <a:off x="8604250" y="4195130"/>
            <a:ext cx="534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₹2.24L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2800" y="5365117"/>
            <a:ext cx="10566400" cy="476885"/>
          </a:xfrm>
          <a:prstGeom prst="roundRect">
            <a:avLst>
              <a:gd name="adj" fmla="val 13316"/>
            </a:avLst>
          </a:prstGeom>
          <a:solidFill>
            <a:srgbClr val="FDE9EA"/>
          </a:solidFill>
          <a:ln/>
        </p:spPr>
      </p:sp>
      <p:sp>
        <p:nvSpPr>
          <p:cNvPr id="43" name="Shape 41"/>
          <p:cNvSpPr/>
          <p:nvPr/>
        </p:nvSpPr>
        <p:spPr>
          <a:xfrm>
            <a:off x="838200" y="5365117"/>
            <a:ext cx="0" cy="476885"/>
          </a:xfrm>
          <a:prstGeom prst="line">
            <a:avLst/>
          </a:prstGeom>
          <a:noFill/>
          <a:ln w="50800">
            <a:solidFill>
              <a:srgbClr val="FF5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4100" y="5492117"/>
            <a:ext cx="1043863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Footnote:</a:t>
            </a:r>
            <a:r>
              <a:rPr lang="en-US" sz="13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this is the </a:t>
            </a: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estimated value of available stock</a:t>
            </a:r>
            <a:r>
              <a:rPr lang="en-US" sz="13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(selling price × quantity) — not actual Zepto sales.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4 · HIGH PRICE, SMALL DISCOUNT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items cost a lot but are barely discounted?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3542"/>
            <a:ext cx="4578350" cy="393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59"/>
              </a:lnSpc>
              <a:buNone/>
            </a:pPr>
            <a:r>
              <a:rPr lang="en-US" sz="1042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look for products priced above ₹500 that have less than a 10% discount.</a:t>
            </a:r>
            <a:endParaRPr lang="en-US" sz="1042" dirty="0"/>
          </a:p>
        </p:txBody>
      </p:sp>
      <p:sp>
        <p:nvSpPr>
          <p:cNvPr id="5" name="Shape 3"/>
          <p:cNvSpPr/>
          <p:nvPr/>
        </p:nvSpPr>
        <p:spPr>
          <a:xfrm>
            <a:off x="812800" y="2148284"/>
            <a:ext cx="4445000" cy="2492216"/>
          </a:xfrm>
          <a:prstGeom prst="roundRect">
            <a:avLst>
              <a:gd name="adj" fmla="val 4077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2313384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DISTINCT</a:t>
            </a:r>
            <a:endParaRPr lang="en-US" sz="787" dirty="0"/>
          </a:p>
        </p:txBody>
      </p:sp>
      <p:sp>
        <p:nvSpPr>
          <p:cNvPr id="7" name="Text 5"/>
          <p:cNvSpPr/>
          <p:nvPr/>
        </p:nvSpPr>
        <p:spPr>
          <a:xfrm>
            <a:off x="1003300" y="2467849"/>
            <a:ext cx="418592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name, mrp, discountPercent</a:t>
            </a:r>
            <a:endParaRPr lang="en-US" sz="787" dirty="0"/>
          </a:p>
        </p:txBody>
      </p:sp>
      <p:sp>
        <p:nvSpPr>
          <p:cNvPr id="8" name="Text 6"/>
          <p:cNvSpPr/>
          <p:nvPr/>
        </p:nvSpPr>
        <p:spPr>
          <a:xfrm>
            <a:off x="1003300" y="2622234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787" dirty="0"/>
          </a:p>
        </p:txBody>
      </p:sp>
      <p:sp>
        <p:nvSpPr>
          <p:cNvPr id="9" name="Text 7"/>
          <p:cNvSpPr/>
          <p:nvPr/>
        </p:nvSpPr>
        <p:spPr>
          <a:xfrm>
            <a:off x="1003300" y="2776699"/>
            <a:ext cx="418592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787" dirty="0"/>
          </a:p>
        </p:txBody>
      </p:sp>
      <p:sp>
        <p:nvSpPr>
          <p:cNvPr id="10" name="Text 8"/>
          <p:cNvSpPr/>
          <p:nvPr/>
        </p:nvSpPr>
        <p:spPr>
          <a:xfrm>
            <a:off x="1003300" y="2931083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787" dirty="0"/>
          </a:p>
        </p:txBody>
      </p:sp>
      <p:sp>
        <p:nvSpPr>
          <p:cNvPr id="11" name="Text 9"/>
          <p:cNvSpPr/>
          <p:nvPr/>
        </p:nvSpPr>
        <p:spPr>
          <a:xfrm>
            <a:off x="1003300" y="3085548"/>
            <a:ext cx="418592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mrp &gt;</a:t>
            </a:r>
            <a:endParaRPr lang="en-US" sz="787" dirty="0"/>
          </a:p>
        </p:txBody>
      </p:sp>
      <p:sp>
        <p:nvSpPr>
          <p:cNvPr id="12" name="Text 10"/>
          <p:cNvSpPr/>
          <p:nvPr/>
        </p:nvSpPr>
        <p:spPr>
          <a:xfrm>
            <a:off x="1003300" y="3239932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</a:t>
            </a:r>
            <a:endParaRPr lang="en-US" sz="787" dirty="0"/>
          </a:p>
        </p:txBody>
      </p:sp>
      <p:sp>
        <p:nvSpPr>
          <p:cNvPr id="13" name="Text 11"/>
          <p:cNvSpPr/>
          <p:nvPr/>
        </p:nvSpPr>
        <p:spPr>
          <a:xfrm>
            <a:off x="1003300" y="3394391"/>
            <a:ext cx="418592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</a:t>
            </a:r>
            <a:endParaRPr lang="en-US" sz="787" dirty="0"/>
          </a:p>
        </p:txBody>
      </p:sp>
      <p:sp>
        <p:nvSpPr>
          <p:cNvPr id="14" name="Text 12"/>
          <p:cNvSpPr/>
          <p:nvPr/>
        </p:nvSpPr>
        <p:spPr>
          <a:xfrm>
            <a:off x="1003300" y="3548776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discountPercent &lt;</a:t>
            </a:r>
            <a:endParaRPr lang="en-US" sz="787" dirty="0"/>
          </a:p>
        </p:txBody>
      </p:sp>
      <p:sp>
        <p:nvSpPr>
          <p:cNvPr id="15" name="Text 13"/>
          <p:cNvSpPr/>
          <p:nvPr/>
        </p:nvSpPr>
        <p:spPr>
          <a:xfrm>
            <a:off x="1003300" y="3703241"/>
            <a:ext cx="418592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787" dirty="0"/>
          </a:p>
        </p:txBody>
      </p:sp>
      <p:sp>
        <p:nvSpPr>
          <p:cNvPr id="16" name="Text 14"/>
          <p:cNvSpPr/>
          <p:nvPr/>
        </p:nvSpPr>
        <p:spPr>
          <a:xfrm>
            <a:off x="1003300" y="3857625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787" dirty="0"/>
          </a:p>
        </p:txBody>
      </p:sp>
      <p:sp>
        <p:nvSpPr>
          <p:cNvPr id="17" name="Text 15"/>
          <p:cNvSpPr/>
          <p:nvPr/>
        </p:nvSpPr>
        <p:spPr>
          <a:xfrm>
            <a:off x="1003300" y="4012090"/>
            <a:ext cx="418592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mrp</a:t>
            </a:r>
            <a:endParaRPr lang="en-US" sz="787" dirty="0"/>
          </a:p>
        </p:txBody>
      </p:sp>
      <p:sp>
        <p:nvSpPr>
          <p:cNvPr id="18" name="Text 16"/>
          <p:cNvSpPr/>
          <p:nvPr/>
        </p:nvSpPr>
        <p:spPr>
          <a:xfrm>
            <a:off x="1003300" y="4166474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endParaRPr lang="en-US" sz="787" dirty="0"/>
          </a:p>
        </p:txBody>
      </p:sp>
      <p:sp>
        <p:nvSpPr>
          <p:cNvPr id="19" name="Text 17"/>
          <p:cNvSpPr/>
          <p:nvPr/>
        </p:nvSpPr>
        <p:spPr>
          <a:xfrm>
            <a:off x="1003300" y="4320939"/>
            <a:ext cx="4185920" cy="17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787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787" dirty="0"/>
          </a:p>
        </p:txBody>
      </p:sp>
      <p:sp>
        <p:nvSpPr>
          <p:cNvPr id="20" name="Text 18"/>
          <p:cNvSpPr/>
          <p:nvPr/>
        </p:nvSpPr>
        <p:spPr>
          <a:xfrm>
            <a:off x="812800" y="4767504"/>
            <a:ext cx="73032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593929" y="5062141"/>
            <a:ext cx="1436529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products match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26913" y="2088356"/>
            <a:ext cx="593877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of the 39 shown — mostly large cooking-oil jars</a:t>
            </a:r>
            <a:endParaRPr lang="en-US" sz="1100" dirty="0"/>
          </a:p>
        </p:txBody>
      </p:sp>
      <p:pic>
        <p:nvPicPr>
          <p:cNvPr id="23" name="Image 0" descr="Scatter plot of MRP versus discount percent for five expensive, barely-discounted cooking oils, all clustered in the high-price low-discount zo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3400" y="2334735"/>
            <a:ext cx="3994150" cy="2159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526913" y="4544535"/>
            <a:ext cx="5938774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MRP (₹) →  ·  ↑ Discount %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12800" y="5356541"/>
            <a:ext cx="10566400" cy="485458"/>
          </a:xfrm>
          <a:prstGeom prst="roundRect">
            <a:avLst>
              <a:gd name="adj" fmla="val 13080"/>
            </a:avLst>
          </a:prstGeom>
          <a:solidFill>
            <a:srgbClr val="EDE7FA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200" y="5356541"/>
            <a:ext cx="0" cy="485458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4100" y="5483541"/>
            <a:ext cx="10438638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3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large cooking-oil jars dominate — premium price, very little discount.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5 · WHO DISCOUNTS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categories discount the most?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66242"/>
            <a:ext cx="457835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7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group products by category and take the average discount in each, biggest first.</a:t>
            </a:r>
            <a:endParaRPr lang="en-US" sz="870" dirty="0"/>
          </a:p>
        </p:txBody>
      </p:sp>
      <p:sp>
        <p:nvSpPr>
          <p:cNvPr id="5" name="Shape 3"/>
          <p:cNvSpPr/>
          <p:nvPr/>
        </p:nvSpPr>
        <p:spPr>
          <a:xfrm>
            <a:off x="812800" y="2060339"/>
            <a:ext cx="4445000" cy="2573576"/>
          </a:xfrm>
          <a:prstGeom prst="roundRect">
            <a:avLst>
              <a:gd name="adj" fmla="val 3948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2225439"/>
            <a:ext cx="4185920" cy="13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1003300" y="2337674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category,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1003300" y="2449829"/>
            <a:ext cx="4185920" cy="13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1003300" y="2562070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003300" y="2674224"/>
            <a:ext cx="4185920" cy="13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1003300" y="2786459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(discountPercent),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1003300" y="2898620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1003300" y="3010774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1003300" y="3122929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1003300" y="3235089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avg_discount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1003300" y="3347244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1003300" y="3459404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1003300" y="3571559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003300" y="3683713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1003300" y="3795874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1003300" y="3908028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avg_discount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003300" y="4020189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003300" y="4132343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003300" y="4244498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003300" y="4356658"/>
            <a:ext cx="4185920" cy="13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6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815975" y="4764088"/>
            <a:ext cx="4438650" cy="352108"/>
          </a:xfrm>
          <a:prstGeom prst="roundRect">
            <a:avLst>
              <a:gd name="adj" fmla="val 20739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" y="4824574"/>
            <a:ext cx="52879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7.62%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62576" y="4833460"/>
            <a:ext cx="29503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the catalog-wide average discount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62600" y="2396492"/>
            <a:ext cx="15748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Fruits &amp; Vegetables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26300" y="2384425"/>
            <a:ext cx="2647950" cy="228600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9963150" y="2383154"/>
            <a:ext cx="6273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15.46%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62600" y="2754629"/>
            <a:ext cx="15748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Meats, Fish &amp; Eggs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26300" y="2742567"/>
            <a:ext cx="1892300" cy="228600"/>
          </a:xfrm>
          <a:prstGeom prst="roundRect">
            <a:avLst>
              <a:gd name="adj" fmla="val 22222"/>
            </a:avLst>
          </a:prstGeom>
          <a:solidFill>
            <a:srgbClr val="5A2D9C"/>
          </a:solidFill>
          <a:ln/>
        </p:spPr>
      </p:sp>
      <p:sp>
        <p:nvSpPr>
          <p:cNvPr id="34" name="Text 32"/>
          <p:cNvSpPr/>
          <p:nvPr/>
        </p:nvSpPr>
        <p:spPr>
          <a:xfrm>
            <a:off x="9207500" y="2741296"/>
            <a:ext cx="57269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11.03%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62600" y="3099439"/>
            <a:ext cx="157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Ice Cream &amp; Desserts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26300" y="3189604"/>
            <a:ext cx="1428750" cy="228600"/>
          </a:xfrm>
          <a:prstGeom prst="roundRect">
            <a:avLst>
              <a:gd name="adj" fmla="val 22222"/>
            </a:avLst>
          </a:prstGeom>
          <a:solidFill>
            <a:srgbClr val="8B4DFF"/>
          </a:solidFill>
          <a:ln/>
        </p:spPr>
      </p:sp>
      <p:sp>
        <p:nvSpPr>
          <p:cNvPr id="37" name="Text 35"/>
          <p:cNvSpPr/>
          <p:nvPr/>
        </p:nvSpPr>
        <p:spPr>
          <a:xfrm>
            <a:off x="8743950" y="3188339"/>
            <a:ext cx="5422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8.32%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62600" y="3648714"/>
            <a:ext cx="15748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Packaged Food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226300" y="3636646"/>
            <a:ext cx="1428750" cy="228600"/>
          </a:xfrm>
          <a:prstGeom prst="roundRect">
            <a:avLst>
              <a:gd name="adj" fmla="val 22222"/>
            </a:avLst>
          </a:prstGeom>
          <a:solidFill>
            <a:srgbClr val="8B4DFF"/>
          </a:solidFill>
          <a:ln/>
        </p:spPr>
      </p:sp>
      <p:sp>
        <p:nvSpPr>
          <p:cNvPr id="40" name="Text 38"/>
          <p:cNvSpPr/>
          <p:nvPr/>
        </p:nvSpPr>
        <p:spPr>
          <a:xfrm>
            <a:off x="8743950" y="3635375"/>
            <a:ext cx="5422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8.32%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62600" y="3993517"/>
            <a:ext cx="157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Chocolates &amp; Candies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26300" y="4083689"/>
            <a:ext cx="1428750" cy="228600"/>
          </a:xfrm>
          <a:prstGeom prst="roundRect">
            <a:avLst>
              <a:gd name="adj" fmla="val 22222"/>
            </a:avLst>
          </a:prstGeom>
          <a:solidFill>
            <a:srgbClr val="8B4DFF"/>
          </a:solidFill>
          <a:ln/>
        </p:spPr>
      </p:sp>
      <p:sp>
        <p:nvSpPr>
          <p:cNvPr id="43" name="Text 41"/>
          <p:cNvSpPr/>
          <p:nvPr/>
        </p:nvSpPr>
        <p:spPr>
          <a:xfrm>
            <a:off x="8743950" y="4082417"/>
            <a:ext cx="5422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8.32%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12800" y="5322571"/>
            <a:ext cx="10566400" cy="519430"/>
          </a:xfrm>
          <a:prstGeom prst="roundRect">
            <a:avLst>
              <a:gd name="adj" fmla="val 12225"/>
            </a:avLst>
          </a:prstGeom>
          <a:solidFill>
            <a:srgbClr val="EDE7FA"/>
          </a:solidFill>
          <a:ln/>
        </p:spPr>
      </p:sp>
      <p:sp>
        <p:nvSpPr>
          <p:cNvPr id="45" name="Shape 43"/>
          <p:cNvSpPr/>
          <p:nvPr/>
        </p:nvSpPr>
        <p:spPr>
          <a:xfrm>
            <a:off x="838200" y="5322571"/>
            <a:ext cx="0" cy="519430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4100" y="5462271"/>
            <a:ext cx="1043863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Fruits &amp; Vegetables discount the most at </a:t>
            </a: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15.46%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double the catalog average.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6 · BEST VALUE PER 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products give the best value for money?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3542"/>
            <a:ext cx="4709160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42"/>
              </a:lnSpc>
              <a:buNone/>
            </a:pPr>
            <a:r>
              <a:rPr lang="en-US" sz="1387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bigger pack can be cheaper per gram: ₹100 for 100 g vs ₹150 for 500 g. So we divide price by weight.</a:t>
            </a:r>
            <a:endParaRPr lang="en-US" sz="1387" dirty="0"/>
          </a:p>
        </p:txBody>
      </p:sp>
      <p:sp>
        <p:nvSpPr>
          <p:cNvPr id="5" name="Shape 3"/>
          <p:cNvSpPr/>
          <p:nvPr/>
        </p:nvSpPr>
        <p:spPr>
          <a:xfrm>
            <a:off x="812800" y="2297032"/>
            <a:ext cx="4572000" cy="2430939"/>
          </a:xfrm>
          <a:prstGeom prst="roundRect">
            <a:avLst>
              <a:gd name="adj" fmla="val 4179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449432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DISTINCT</a:t>
            </a:r>
            <a:endParaRPr lang="en-US" sz="748" dirty="0"/>
          </a:p>
        </p:txBody>
      </p:sp>
      <p:sp>
        <p:nvSpPr>
          <p:cNvPr id="7" name="Text 5"/>
          <p:cNvSpPr/>
          <p:nvPr/>
        </p:nvSpPr>
        <p:spPr>
          <a:xfrm>
            <a:off x="990600" y="2591197"/>
            <a:ext cx="4342892" cy="167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name, weightInGms,</a:t>
            </a:r>
            <a:endParaRPr lang="en-US" sz="748" dirty="0"/>
          </a:p>
        </p:txBody>
      </p:sp>
      <p:sp>
        <p:nvSpPr>
          <p:cNvPr id="8" name="Text 6"/>
          <p:cNvSpPr/>
          <p:nvPr/>
        </p:nvSpPr>
        <p:spPr>
          <a:xfrm>
            <a:off x="990600" y="2732881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</a:t>
            </a:r>
            <a:endParaRPr lang="en-US" sz="748" dirty="0"/>
          </a:p>
        </p:txBody>
      </p:sp>
      <p:sp>
        <p:nvSpPr>
          <p:cNvPr id="9" name="Text 7"/>
          <p:cNvSpPr/>
          <p:nvPr/>
        </p:nvSpPr>
        <p:spPr>
          <a:xfrm>
            <a:off x="990600" y="2874646"/>
            <a:ext cx="4342892" cy="167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(discountedSellingPrice / weightInGms,</a:t>
            </a:r>
            <a:endParaRPr lang="en-US" sz="748" dirty="0"/>
          </a:p>
        </p:txBody>
      </p:sp>
      <p:sp>
        <p:nvSpPr>
          <p:cNvPr id="10" name="Text 8"/>
          <p:cNvSpPr/>
          <p:nvPr/>
        </p:nvSpPr>
        <p:spPr>
          <a:xfrm>
            <a:off x="990600" y="3016331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748" dirty="0"/>
          </a:p>
        </p:txBody>
      </p:sp>
      <p:sp>
        <p:nvSpPr>
          <p:cNvPr id="11" name="Text 9"/>
          <p:cNvSpPr/>
          <p:nvPr/>
        </p:nvSpPr>
        <p:spPr>
          <a:xfrm>
            <a:off x="990600" y="3158096"/>
            <a:ext cx="4342892" cy="167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48" dirty="0"/>
          </a:p>
        </p:txBody>
      </p:sp>
      <p:sp>
        <p:nvSpPr>
          <p:cNvPr id="12" name="Text 10"/>
          <p:cNvSpPr/>
          <p:nvPr/>
        </p:nvSpPr>
        <p:spPr>
          <a:xfrm>
            <a:off x="990600" y="3299780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748" dirty="0"/>
          </a:p>
        </p:txBody>
      </p:sp>
      <p:sp>
        <p:nvSpPr>
          <p:cNvPr id="13" name="Text 11"/>
          <p:cNvSpPr/>
          <p:nvPr/>
        </p:nvSpPr>
        <p:spPr>
          <a:xfrm>
            <a:off x="990600" y="3441545"/>
            <a:ext cx="4342892" cy="167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price_per_gram</a:t>
            </a:r>
            <a:endParaRPr lang="en-US" sz="748" dirty="0"/>
          </a:p>
        </p:txBody>
      </p:sp>
      <p:sp>
        <p:nvSpPr>
          <p:cNvPr id="14" name="Text 12"/>
          <p:cNvSpPr/>
          <p:nvPr/>
        </p:nvSpPr>
        <p:spPr>
          <a:xfrm>
            <a:off x="990600" y="3583229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748" dirty="0"/>
          </a:p>
        </p:txBody>
      </p:sp>
      <p:sp>
        <p:nvSpPr>
          <p:cNvPr id="15" name="Text 13"/>
          <p:cNvSpPr/>
          <p:nvPr/>
        </p:nvSpPr>
        <p:spPr>
          <a:xfrm>
            <a:off x="990600" y="3724988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748" dirty="0"/>
          </a:p>
        </p:txBody>
      </p:sp>
      <p:sp>
        <p:nvSpPr>
          <p:cNvPr id="16" name="Text 14"/>
          <p:cNvSpPr/>
          <p:nvPr/>
        </p:nvSpPr>
        <p:spPr>
          <a:xfrm>
            <a:off x="990600" y="3866753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748" dirty="0"/>
          </a:p>
        </p:txBody>
      </p:sp>
      <p:sp>
        <p:nvSpPr>
          <p:cNvPr id="17" name="Text 15"/>
          <p:cNvSpPr/>
          <p:nvPr/>
        </p:nvSpPr>
        <p:spPr>
          <a:xfrm>
            <a:off x="990600" y="4008518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weightInGms &gt;=</a:t>
            </a:r>
            <a:endParaRPr lang="en-US" sz="748" dirty="0"/>
          </a:p>
        </p:txBody>
      </p:sp>
      <p:sp>
        <p:nvSpPr>
          <p:cNvPr id="18" name="Text 16"/>
          <p:cNvSpPr/>
          <p:nvPr/>
        </p:nvSpPr>
        <p:spPr>
          <a:xfrm>
            <a:off x="990600" y="4150283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endParaRPr lang="en-US" sz="748" dirty="0"/>
          </a:p>
        </p:txBody>
      </p:sp>
      <p:sp>
        <p:nvSpPr>
          <p:cNvPr id="19" name="Text 17"/>
          <p:cNvSpPr/>
          <p:nvPr/>
        </p:nvSpPr>
        <p:spPr>
          <a:xfrm>
            <a:off x="990600" y="4292048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748" dirty="0"/>
          </a:p>
        </p:txBody>
      </p:sp>
      <p:sp>
        <p:nvSpPr>
          <p:cNvPr id="20" name="Text 18"/>
          <p:cNvSpPr/>
          <p:nvPr/>
        </p:nvSpPr>
        <p:spPr>
          <a:xfrm>
            <a:off x="990600" y="4433807"/>
            <a:ext cx="4342892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748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price_per_gram;</a:t>
            </a:r>
            <a:endParaRPr lang="en-US" sz="748" dirty="0"/>
          </a:p>
        </p:txBody>
      </p:sp>
      <p:sp>
        <p:nvSpPr>
          <p:cNvPr id="21" name="Text 19"/>
          <p:cNvSpPr/>
          <p:nvPr/>
        </p:nvSpPr>
        <p:spPr>
          <a:xfrm>
            <a:off x="812800" y="4842272"/>
            <a:ext cx="4709160" cy="31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62"/>
              </a:lnSpc>
              <a:buNone/>
            </a:pPr>
            <a:r>
              <a:rPr lang="en-US" sz="830" b="1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does:</a:t>
            </a:r>
            <a:r>
              <a:rPr lang="en-US" sz="83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divides price by weight for each product, then sorts cheapest-per-gram first.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689600" y="2512696"/>
            <a:ext cx="13843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62800" y="2513329"/>
            <a:ext cx="762000" cy="203200"/>
          </a:xfrm>
          <a:prstGeom prst="roundRect">
            <a:avLst>
              <a:gd name="adj" fmla="val 21875"/>
            </a:avLst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8013700" y="2503804"/>
            <a:ext cx="6678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₹0.02/g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89600" y="2823846"/>
            <a:ext cx="13843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Tata Salt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62800" y="2824479"/>
            <a:ext cx="762000" cy="203200"/>
          </a:xfrm>
          <a:prstGeom prst="roundRect">
            <a:avLst>
              <a:gd name="adj" fmla="val 21875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8013700" y="2814954"/>
            <a:ext cx="6678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₹0.02/g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89600" y="3134996"/>
            <a:ext cx="13843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Aashirvaad Salt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62800" y="3135629"/>
            <a:ext cx="762000" cy="203200"/>
          </a:xfrm>
          <a:prstGeom prst="roundRect">
            <a:avLst>
              <a:gd name="adj" fmla="val 21875"/>
            </a:avLst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8013700" y="3126104"/>
            <a:ext cx="6678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₹0.02/g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89600" y="3446146"/>
            <a:ext cx="13843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Beetroot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62800" y="3446779"/>
            <a:ext cx="114300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3" name="Text 31"/>
          <p:cNvSpPr/>
          <p:nvPr/>
        </p:nvSpPr>
        <p:spPr>
          <a:xfrm>
            <a:off x="8394700" y="3437254"/>
            <a:ext cx="6732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₹0.03/g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89600" y="3757296"/>
            <a:ext cx="13843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Carrot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62800" y="3757929"/>
            <a:ext cx="114300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6" name="Text 34"/>
          <p:cNvSpPr/>
          <p:nvPr/>
        </p:nvSpPr>
        <p:spPr>
          <a:xfrm>
            <a:off x="8394700" y="3748404"/>
            <a:ext cx="6732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₹0.03/g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89600" y="4068446"/>
            <a:ext cx="13843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1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Potato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162800" y="4069079"/>
            <a:ext cx="114300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9" name="Text 37"/>
          <p:cNvSpPr/>
          <p:nvPr/>
        </p:nvSpPr>
        <p:spPr>
          <a:xfrm>
            <a:off x="8394700" y="4059554"/>
            <a:ext cx="6732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₹0.03/g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12800" y="5322571"/>
            <a:ext cx="10566400" cy="519430"/>
          </a:xfrm>
          <a:prstGeom prst="roundRect">
            <a:avLst>
              <a:gd name="adj" fmla="val 12225"/>
            </a:avLst>
          </a:prstGeom>
          <a:solidFill>
            <a:srgbClr val="EDE7FA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200" y="5322571"/>
            <a:ext cx="0" cy="519430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4100" y="5462271"/>
            <a:ext cx="1043863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everyday staples and produce — onion, salt, potato — win on value per gram.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7 · SMALL, MEDIUM OR BULK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big are the packs on the app?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3542"/>
            <a:ext cx="470916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1"/>
              </a:lnSpc>
              <a:buNone/>
            </a:pPr>
            <a:r>
              <a:rPr lang="en-US" sz="1115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sort every product into three simple buckets by weight: low, medium or bulk.</a:t>
            </a:r>
            <a:endParaRPr lang="en-US" sz="1115" dirty="0"/>
          </a:p>
        </p:txBody>
      </p:sp>
      <p:sp>
        <p:nvSpPr>
          <p:cNvPr id="5" name="Shape 3"/>
          <p:cNvSpPr/>
          <p:nvPr/>
        </p:nvSpPr>
        <p:spPr>
          <a:xfrm>
            <a:off x="812800" y="2171384"/>
            <a:ext cx="4572000" cy="2523728"/>
          </a:xfrm>
          <a:prstGeom prst="roundRect">
            <a:avLst>
              <a:gd name="adj" fmla="val 4026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2336484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003300" y="2493169"/>
            <a:ext cx="4316730" cy="182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03300" y="2649779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weightInGms &lt;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03300" y="2806464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1000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003300" y="2963149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003300" y="3119834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'Low'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003300" y="3276519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003300" y="3433211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weightInGms &lt;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003300" y="3589896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5000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003300" y="3746581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03300" y="3903266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'Medium'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003300" y="4059951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003300" y="4216642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7CE7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'Bulk'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003300" y="4373327"/>
            <a:ext cx="431673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12800" y="4822112"/>
            <a:ext cx="4709160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8"/>
              </a:lnSpc>
              <a:buNone/>
            </a:pPr>
            <a:r>
              <a:rPr lang="en-US" sz="913" b="1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does:</a:t>
            </a:r>
            <a:r>
              <a:rPr lang="en-US" sz="913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CASE WHEN sorts each product into a bucket based on its weight.</a:t>
            </a:r>
            <a:endParaRPr lang="en-US" sz="913" dirty="0"/>
          </a:p>
        </p:txBody>
      </p:sp>
      <p:sp>
        <p:nvSpPr>
          <p:cNvPr id="21" name="Text 19"/>
          <p:cNvSpPr/>
          <p:nvPr/>
        </p:nvSpPr>
        <p:spPr>
          <a:xfrm>
            <a:off x="6959203" y="1797689"/>
            <a:ext cx="63571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3,392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902450" y="2176146"/>
            <a:ext cx="698500" cy="2032000"/>
          </a:xfrm>
          <a:prstGeom prst="roundRect">
            <a:avLst>
              <a:gd name="adj" fmla="val 9091"/>
            </a:avLst>
          </a:prstGeom>
          <a:solidFill>
            <a:srgbClr val="5A2D9C"/>
          </a:solidFill>
          <a:ln/>
        </p:spPr>
      </p:sp>
      <p:sp>
        <p:nvSpPr>
          <p:cNvPr id="23" name="Text 21"/>
          <p:cNvSpPr/>
          <p:nvPr/>
        </p:nvSpPr>
        <p:spPr>
          <a:xfrm>
            <a:off x="8367078" y="3626489"/>
            <a:ext cx="43624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293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10550" y="4004946"/>
            <a:ext cx="698500" cy="203200"/>
          </a:xfrm>
          <a:prstGeom prst="roundRect">
            <a:avLst>
              <a:gd name="adj" fmla="val 31250"/>
            </a:avLst>
          </a:prstGeom>
          <a:solidFill>
            <a:srgbClr val="8B4DFF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708" y="3778889"/>
            <a:ext cx="33710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518650" y="4157346"/>
            <a:ext cx="698500" cy="50800"/>
          </a:xfrm>
          <a:prstGeom prst="roundRect">
            <a:avLst>
              <a:gd name="adj" fmla="val 50000"/>
            </a:avLst>
          </a:prstGeom>
          <a:solidFill>
            <a:srgbClr val="8B4D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88188" y="4309746"/>
            <a:ext cx="3777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70090" y="4540889"/>
            <a:ext cx="4140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1 kg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09677" y="4309746"/>
            <a:ext cx="7510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44377" y="4540889"/>
            <a:ext cx="48156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1–5 kg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82480" y="4309746"/>
            <a:ext cx="4216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55652" y="4540889"/>
            <a:ext cx="4752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5 kg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2800" y="5322571"/>
            <a:ext cx="10566400" cy="519430"/>
          </a:xfrm>
          <a:prstGeom prst="roundRect">
            <a:avLst>
              <a:gd name="adj" fmla="val 12225"/>
            </a:avLst>
          </a:prstGeom>
          <a:solidFill>
            <a:srgbClr val="EDE7FA"/>
          </a:solidFill>
          <a:ln/>
        </p:spPr>
      </p:sp>
      <p:sp>
        <p:nvSpPr>
          <p:cNvPr id="34" name="Shape 32"/>
          <p:cNvSpPr/>
          <p:nvPr/>
        </p:nvSpPr>
        <p:spPr>
          <a:xfrm>
            <a:off x="838200" y="5322571"/>
            <a:ext cx="0" cy="519430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4100" y="5462271"/>
            <a:ext cx="1043863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catalog is overwhelmingly small packs — built for quick, single-trip delivery.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8 · PHYSICAL WEIGHT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much does the inventory weigh?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3542"/>
            <a:ext cx="4578350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7"/>
              </a:lnSpc>
              <a:buNone/>
            </a:pPr>
            <a:r>
              <a:rPr lang="en-US" sz="1405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each category we multiply weight by quantity, add it up, then convert grams to kilograms.</a:t>
            </a:r>
            <a:endParaRPr lang="en-US" sz="1405" dirty="0"/>
          </a:p>
        </p:txBody>
      </p:sp>
      <p:sp>
        <p:nvSpPr>
          <p:cNvPr id="5" name="Shape 3"/>
          <p:cNvSpPr/>
          <p:nvPr/>
        </p:nvSpPr>
        <p:spPr>
          <a:xfrm>
            <a:off x="812800" y="2293541"/>
            <a:ext cx="4445000" cy="2340927"/>
          </a:xfrm>
          <a:prstGeom prst="roundRect">
            <a:avLst>
              <a:gd name="adj" fmla="val 4340"/>
            </a:avLst>
          </a:prstGeom>
          <a:solidFill>
            <a:srgbClr val="2A1B4A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2458641"/>
            <a:ext cx="4185920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756" dirty="0"/>
          </a:p>
        </p:txBody>
      </p:sp>
      <p:sp>
        <p:nvSpPr>
          <p:cNvPr id="7" name="Text 5"/>
          <p:cNvSpPr/>
          <p:nvPr/>
        </p:nvSpPr>
        <p:spPr>
          <a:xfrm>
            <a:off x="1003300" y="2602309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category,</a:t>
            </a:r>
            <a:endParaRPr lang="en-US" sz="756" dirty="0"/>
          </a:p>
        </p:txBody>
      </p:sp>
      <p:sp>
        <p:nvSpPr>
          <p:cNvPr id="8" name="Text 6"/>
          <p:cNvSpPr/>
          <p:nvPr/>
        </p:nvSpPr>
        <p:spPr>
          <a:xfrm>
            <a:off x="1003300" y="2745898"/>
            <a:ext cx="4185920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endParaRPr lang="en-US" sz="756" dirty="0"/>
          </a:p>
        </p:txBody>
      </p:sp>
      <p:sp>
        <p:nvSpPr>
          <p:cNvPr id="9" name="Text 7"/>
          <p:cNvSpPr/>
          <p:nvPr/>
        </p:nvSpPr>
        <p:spPr>
          <a:xfrm>
            <a:off x="1003300" y="2889566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(weightInGms * availableQuantity)</a:t>
            </a:r>
            <a:endParaRPr lang="en-US" sz="756" dirty="0"/>
          </a:p>
        </p:txBody>
      </p:sp>
      <p:sp>
        <p:nvSpPr>
          <p:cNvPr id="10" name="Text 8"/>
          <p:cNvSpPr/>
          <p:nvPr/>
        </p:nvSpPr>
        <p:spPr>
          <a:xfrm>
            <a:off x="1003300" y="3033161"/>
            <a:ext cx="4185920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756" dirty="0"/>
          </a:p>
        </p:txBody>
      </p:sp>
      <p:sp>
        <p:nvSpPr>
          <p:cNvPr id="11" name="Text 9"/>
          <p:cNvSpPr/>
          <p:nvPr/>
        </p:nvSpPr>
        <p:spPr>
          <a:xfrm>
            <a:off x="1003300" y="3176829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total_weight</a:t>
            </a:r>
            <a:endParaRPr lang="en-US" sz="756" dirty="0"/>
          </a:p>
        </p:txBody>
      </p:sp>
      <p:sp>
        <p:nvSpPr>
          <p:cNvPr id="12" name="Text 10"/>
          <p:cNvSpPr/>
          <p:nvPr/>
        </p:nvSpPr>
        <p:spPr>
          <a:xfrm>
            <a:off x="1003300" y="3320417"/>
            <a:ext cx="4185920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756" dirty="0"/>
          </a:p>
        </p:txBody>
      </p:sp>
      <p:sp>
        <p:nvSpPr>
          <p:cNvPr id="13" name="Text 11"/>
          <p:cNvSpPr/>
          <p:nvPr/>
        </p:nvSpPr>
        <p:spPr>
          <a:xfrm>
            <a:off x="1003300" y="3464086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zepto</a:t>
            </a:r>
            <a:endParaRPr lang="en-US" sz="756" dirty="0"/>
          </a:p>
        </p:txBody>
      </p:sp>
      <p:sp>
        <p:nvSpPr>
          <p:cNvPr id="14" name="Text 12"/>
          <p:cNvSpPr/>
          <p:nvPr/>
        </p:nvSpPr>
        <p:spPr>
          <a:xfrm>
            <a:off x="1003300" y="3607674"/>
            <a:ext cx="4185920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endParaRPr lang="en-US" sz="756" dirty="0"/>
          </a:p>
        </p:txBody>
      </p:sp>
      <p:sp>
        <p:nvSpPr>
          <p:cNvPr id="15" name="Text 13"/>
          <p:cNvSpPr/>
          <p:nvPr/>
        </p:nvSpPr>
        <p:spPr>
          <a:xfrm>
            <a:off x="1003300" y="3751343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</a:t>
            </a:r>
            <a:endParaRPr lang="en-US" sz="756" dirty="0"/>
          </a:p>
        </p:txBody>
      </p:sp>
      <p:sp>
        <p:nvSpPr>
          <p:cNvPr id="16" name="Text 14"/>
          <p:cNvSpPr/>
          <p:nvPr/>
        </p:nvSpPr>
        <p:spPr>
          <a:xfrm>
            <a:off x="1003300" y="3894931"/>
            <a:ext cx="4185920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756" dirty="0"/>
          </a:p>
        </p:txBody>
      </p:sp>
      <p:sp>
        <p:nvSpPr>
          <p:cNvPr id="17" name="Text 15"/>
          <p:cNvSpPr/>
          <p:nvPr/>
        </p:nvSpPr>
        <p:spPr>
          <a:xfrm>
            <a:off x="1003300" y="4038600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total_weight</a:t>
            </a:r>
            <a:endParaRPr lang="en-US" sz="756" dirty="0"/>
          </a:p>
        </p:txBody>
      </p:sp>
      <p:sp>
        <p:nvSpPr>
          <p:cNvPr id="18" name="Text 16"/>
          <p:cNvSpPr/>
          <p:nvPr/>
        </p:nvSpPr>
        <p:spPr>
          <a:xfrm>
            <a:off x="1003300" y="4182188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B7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endParaRPr lang="en-US" sz="756" dirty="0"/>
          </a:p>
        </p:txBody>
      </p:sp>
      <p:sp>
        <p:nvSpPr>
          <p:cNvPr id="19" name="Text 17"/>
          <p:cNvSpPr/>
          <p:nvPr/>
        </p:nvSpPr>
        <p:spPr>
          <a:xfrm>
            <a:off x="1003300" y="4325782"/>
            <a:ext cx="4185920" cy="16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56" dirty="0">
                <a:solidFill>
                  <a:srgbClr val="E7E0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756" dirty="0"/>
          </a:p>
        </p:txBody>
      </p:sp>
      <p:sp>
        <p:nvSpPr>
          <p:cNvPr id="20" name="Text 18"/>
          <p:cNvSpPr/>
          <p:nvPr/>
        </p:nvSpPr>
        <p:spPr>
          <a:xfrm>
            <a:off x="812800" y="4761471"/>
            <a:ext cx="9118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5A2D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775460" y="5035792"/>
            <a:ext cx="23887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tonnes total (6,005.8 kg)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62600" y="2561592"/>
            <a:ext cx="16383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Cooking Essentials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89800" y="2557779"/>
            <a:ext cx="2495550" cy="203200"/>
          </a:xfrm>
          <a:prstGeom prst="roundRect">
            <a:avLst>
              <a:gd name="adj" fmla="val 21875"/>
            </a:avLst>
          </a:prstGeom>
          <a:solidFill>
            <a:srgbClr val="5A2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874250" y="2557146"/>
            <a:ext cx="65706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1,405 kg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62600" y="2854964"/>
            <a:ext cx="16383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Munchies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89800" y="2851150"/>
            <a:ext cx="2495550" cy="203200"/>
          </a:xfrm>
          <a:prstGeom prst="roundRect">
            <a:avLst>
              <a:gd name="adj" fmla="val 21875"/>
            </a:avLst>
          </a:prstGeom>
          <a:solidFill>
            <a:srgbClr val="5A2D9C"/>
          </a:solidFill>
          <a:ln/>
        </p:spPr>
      </p:sp>
      <p:sp>
        <p:nvSpPr>
          <p:cNvPr id="27" name="Text 25"/>
          <p:cNvSpPr/>
          <p:nvPr/>
        </p:nvSpPr>
        <p:spPr>
          <a:xfrm>
            <a:off x="9874250" y="2850517"/>
            <a:ext cx="65706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1,405 kg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62600" y="3148329"/>
            <a:ext cx="16383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Ice Cream &amp; Desserts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9800" y="3144521"/>
            <a:ext cx="86995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48650" y="3143889"/>
            <a:ext cx="51482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491 kg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62600" y="3441700"/>
            <a:ext cx="16383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Packaged Food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89800" y="3437892"/>
            <a:ext cx="86995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48650" y="3437254"/>
            <a:ext cx="51482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491 kg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62600" y="3735071"/>
            <a:ext cx="16383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Chocolates &amp; Candies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89800" y="3731264"/>
            <a:ext cx="86995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48650" y="3730625"/>
            <a:ext cx="514826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491 kg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62600" y="4028442"/>
            <a:ext cx="16383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 &amp; Cleaning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89800" y="4024629"/>
            <a:ext cx="666750" cy="203200"/>
          </a:xfrm>
          <a:prstGeom prst="roundRect">
            <a:avLst>
              <a:gd name="adj" fmla="val 21875"/>
            </a:avLst>
          </a:prstGeom>
          <a:solidFill>
            <a:srgbClr val="8B4DFF"/>
          </a:solidFill>
          <a:ln/>
        </p:spPr>
      </p:sp>
      <p:sp>
        <p:nvSpPr>
          <p:cNvPr id="39" name="Text 37"/>
          <p:cNvSpPr/>
          <p:nvPr/>
        </p:nvSpPr>
        <p:spPr>
          <a:xfrm>
            <a:off x="8045450" y="4023996"/>
            <a:ext cx="526097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373 kg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2800" y="5322571"/>
            <a:ext cx="10566400" cy="519430"/>
          </a:xfrm>
          <a:prstGeom prst="roundRect">
            <a:avLst>
              <a:gd name="adj" fmla="val 12225"/>
            </a:avLst>
          </a:prstGeom>
          <a:solidFill>
            <a:srgbClr val="EDE7FA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200" y="5322571"/>
            <a:ext cx="0" cy="519430"/>
          </a:xfrm>
          <a:prstGeom prst="line">
            <a:avLst/>
          </a:prstGeom>
          <a:noFill/>
          <a:ln w="50800">
            <a:solidFill>
              <a:srgbClr val="5A2D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4100" y="5462271"/>
            <a:ext cx="1043863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Insight:</a:t>
            </a:r>
            <a:r>
              <a:rPr lang="en-US" sz="1400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value leaders and the weight leaders can differ — money and mass tell different stories.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1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5973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7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DID WE LEARN?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65536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takeaways from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3044986"/>
            <a:ext cx="2001520" cy="1737043"/>
          </a:xfrm>
          <a:prstGeom prst="roundRect">
            <a:avLst>
              <a:gd name="adj" fmla="val 6580"/>
            </a:avLst>
          </a:prstGeom>
          <a:solidFill>
            <a:srgbClr val="4A2585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248186"/>
            <a:ext cx="1696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0600" y="3679986"/>
            <a:ext cx="16967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0600" y="3987323"/>
            <a:ext cx="1696720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Discounts reach 51%, but the average is only 7.6%.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54020" y="3044986"/>
            <a:ext cx="2001520" cy="1737043"/>
          </a:xfrm>
          <a:prstGeom prst="roundRect">
            <a:avLst>
              <a:gd name="adj" fmla="val 6580"/>
            </a:avLst>
          </a:prstGeom>
          <a:solidFill>
            <a:srgbClr val="4A2585"/>
          </a:solidFill>
          <a:ln/>
        </p:spPr>
      </p:sp>
      <p:sp>
        <p:nvSpPr>
          <p:cNvPr id="9" name="Text 7"/>
          <p:cNvSpPr/>
          <p:nvPr/>
        </p:nvSpPr>
        <p:spPr>
          <a:xfrm>
            <a:off x="3131820" y="3248186"/>
            <a:ext cx="1696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31820" y="3679986"/>
            <a:ext cx="16967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31820" y="3987323"/>
            <a:ext cx="1696720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453 items are out of stock (~12%).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95240" y="3044986"/>
            <a:ext cx="2001520" cy="1737043"/>
          </a:xfrm>
          <a:prstGeom prst="roundRect">
            <a:avLst>
              <a:gd name="adj" fmla="val 6580"/>
            </a:avLst>
          </a:prstGeom>
          <a:solidFill>
            <a:srgbClr val="4A2585"/>
          </a:solidFill>
          <a:ln/>
        </p:spPr>
      </p:sp>
      <p:sp>
        <p:nvSpPr>
          <p:cNvPr id="13" name="Text 11"/>
          <p:cNvSpPr/>
          <p:nvPr/>
        </p:nvSpPr>
        <p:spPr>
          <a:xfrm>
            <a:off x="5273040" y="3248186"/>
            <a:ext cx="1696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🏷️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73040" y="3679986"/>
            <a:ext cx="16967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3040" y="3987323"/>
            <a:ext cx="1696720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Fruits &amp; Veg discount most, at 15.5%.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36460" y="3044986"/>
            <a:ext cx="2001520" cy="1737043"/>
          </a:xfrm>
          <a:prstGeom prst="roundRect">
            <a:avLst>
              <a:gd name="adj" fmla="val 6580"/>
            </a:avLst>
          </a:prstGeom>
          <a:solidFill>
            <a:srgbClr val="4A2585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260" y="3248186"/>
            <a:ext cx="1696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⚖️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14260" y="3679986"/>
            <a:ext cx="16967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14260" y="3987323"/>
            <a:ext cx="1696720" cy="61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Price-per-gram compares pack sizes fairly.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77680" y="3044986"/>
            <a:ext cx="2001520" cy="1737043"/>
          </a:xfrm>
          <a:prstGeom prst="roundRect">
            <a:avLst>
              <a:gd name="adj" fmla="val 6580"/>
            </a:avLst>
          </a:prstGeom>
          <a:solidFill>
            <a:srgbClr val="8B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3248186"/>
            <a:ext cx="1696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55480" y="3679986"/>
            <a:ext cx="16967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55480" y="3987323"/>
            <a:ext cx="1696720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3"/>
              </a:lnSpc>
              <a:buNone/>
            </a:pPr>
            <a:r>
              <a:rPr lang="en-US" sz="1150" dirty="0">
                <a:solidFill>
                  <a:srgbClr val="F1E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₹22.4 lakh in value, ≈ 6 tonnes in weight.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69467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59025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steps from raw data to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3041650"/>
            <a:ext cx="1426924" cy="976630"/>
          </a:xfrm>
          <a:prstGeom prst="roundRect">
            <a:avLst>
              <a:gd name="adj" fmla="val 8778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180" y="3183260"/>
            <a:ext cx="1245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180" y="3513460"/>
            <a:ext cx="1245314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8149" y="3041650"/>
            <a:ext cx="1426924" cy="976630"/>
          </a:xfrm>
          <a:prstGeom prst="roundRect">
            <a:avLst>
              <a:gd name="adj" fmla="val 8778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4354" y="3183260"/>
            <a:ext cx="1245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54354" y="3513460"/>
            <a:ext cx="1245314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60324" y="3041650"/>
            <a:ext cx="1426924" cy="976630"/>
          </a:xfrm>
          <a:prstGeom prst="roundRect">
            <a:avLst>
              <a:gd name="adj" fmla="val 8778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6529" y="3183260"/>
            <a:ext cx="1245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6529" y="3513460"/>
            <a:ext cx="1245314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82498" y="3041650"/>
            <a:ext cx="1426924" cy="976630"/>
          </a:xfrm>
          <a:prstGeom prst="roundRect">
            <a:avLst>
              <a:gd name="adj" fmla="val 8778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8703" y="3183260"/>
            <a:ext cx="1245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98703" y="3513460"/>
            <a:ext cx="124531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business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4672" y="3041650"/>
            <a:ext cx="1426924" cy="976630"/>
          </a:xfrm>
          <a:prstGeom prst="roundRect">
            <a:avLst>
              <a:gd name="adj" fmla="val 8778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0878" y="3183260"/>
            <a:ext cx="1245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20878" y="3513460"/>
            <a:ext cx="1245314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26847" y="3041650"/>
            <a:ext cx="1426924" cy="976630"/>
          </a:xfrm>
          <a:prstGeom prst="roundRect">
            <a:avLst>
              <a:gd name="adj" fmla="val 8778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3052" y="3183260"/>
            <a:ext cx="1245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43052" y="3513460"/>
            <a:ext cx="124531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metrics &amp; charts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45846" y="3038475"/>
            <a:ext cx="1433274" cy="982980"/>
          </a:xfrm>
          <a:prstGeom prst="roundRect">
            <a:avLst>
              <a:gd name="adj" fmla="val 9044"/>
            </a:avLst>
          </a:prstGeom>
          <a:solidFill>
            <a:srgbClr val="5A2D9C"/>
          </a:solidFill>
          <a:ln/>
        </p:spPr>
      </p:sp>
      <p:sp>
        <p:nvSpPr>
          <p:cNvPr id="23" name="Text 21"/>
          <p:cNvSpPr/>
          <p:nvPr/>
        </p:nvSpPr>
        <p:spPr>
          <a:xfrm>
            <a:off x="10060146" y="3178175"/>
            <a:ext cx="12554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60146" y="3508375"/>
            <a:ext cx="1255474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insights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8703" y="4300860"/>
            <a:ext cx="55697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91877" y="4300860"/>
            <a:ext cx="22613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94216" y="4300860"/>
            <a:ext cx="43283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3248" y="4300860"/>
            <a:ext cx="22613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5588" y="4300860"/>
            <a:ext cx="77851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7642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SKILLS I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5983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3B1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everyday SQL tools, in plain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848608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3028317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680" y="3345817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2500" y="2848608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2205" y="3028317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2205" y="3345817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9025" y="2848608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8730" y="3028317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48730" y="3345817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45550" y="2848608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255" y="3028317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25255" y="3345817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884935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680" y="4064633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5680" y="4382133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groups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92500" y="3884935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2205" y="4064633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72205" y="4382133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9025" y="3884935"/>
            <a:ext cx="2530475" cy="890270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6350">
            <a:solidFill>
              <a:srgbClr val="D8D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8730" y="4064633"/>
            <a:ext cx="22361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2D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8730" y="4382133"/>
            <a:ext cx="223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42375" y="3881760"/>
            <a:ext cx="2536825" cy="896620"/>
          </a:xfrm>
          <a:prstGeom prst="roundRect">
            <a:avLst>
              <a:gd name="adj" fmla="val 11331"/>
            </a:avLst>
          </a:prstGeom>
          <a:solidFill>
            <a:srgbClr val="5A2D9C"/>
          </a:solidFill>
          <a:ln/>
        </p:spPr>
      </p:sp>
      <p:sp>
        <p:nvSpPr>
          <p:cNvPr id="26" name="Text 24"/>
          <p:cNvSpPr/>
          <p:nvPr/>
        </p:nvSpPr>
        <p:spPr>
          <a:xfrm>
            <a:off x="9020175" y="4059560"/>
            <a:ext cx="22466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WHEN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20175" y="4377060"/>
            <a:ext cx="22466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buckets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9610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7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THIS DOES NOT TELL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85677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limits — and why they matter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3169283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do NOT know: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519810"/>
            <a:ext cx="5284724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 Real orders or actual sales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 Profit or margins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 Customer behavior</a:t>
            </a:r>
            <a:endParaRPr lang="en-US" sz="16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5F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 Zepto's internal decisions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8400" y="2865127"/>
            <a:ext cx="5130800" cy="810260"/>
          </a:xfrm>
          <a:prstGeom prst="roundRect">
            <a:avLst>
              <a:gd name="adj" fmla="val 9404"/>
            </a:avLst>
          </a:prstGeom>
          <a:solidFill>
            <a:srgbClr val="3B1A6B"/>
          </a:solidFill>
          <a:ln/>
        </p:spPr>
      </p:sp>
      <p:sp>
        <p:nvSpPr>
          <p:cNvPr id="7" name="Shape 5"/>
          <p:cNvSpPr/>
          <p:nvPr/>
        </p:nvSpPr>
        <p:spPr>
          <a:xfrm>
            <a:off x="6273800" y="2865127"/>
            <a:ext cx="0" cy="810260"/>
          </a:xfrm>
          <a:prstGeom prst="line">
            <a:avLst/>
          </a:prstGeom>
          <a:noFill/>
          <a:ln w="50800">
            <a:solidFill>
              <a:srgbClr val="FF5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700" y="3030227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Based on </a:t>
            </a: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public, scraped product / inventory data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(via Kaggle) — not transactions.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8400" y="3802385"/>
            <a:ext cx="5130800" cy="810260"/>
          </a:xfrm>
          <a:prstGeom prst="roundRect">
            <a:avLst>
              <a:gd name="adj" fmla="val 9404"/>
            </a:avLst>
          </a:prstGeom>
          <a:solidFill>
            <a:srgbClr val="3B1A6B"/>
          </a:solidFill>
          <a:ln/>
        </p:spPr>
      </p:sp>
      <p:sp>
        <p:nvSpPr>
          <p:cNvPr id="10" name="Shape 8"/>
          <p:cNvSpPr/>
          <p:nvPr/>
        </p:nvSpPr>
        <p:spPr>
          <a:xfrm>
            <a:off x="6273800" y="3802385"/>
            <a:ext cx="0" cy="810260"/>
          </a:xfrm>
          <a:prstGeom prst="line">
            <a:avLst/>
          </a:prstGeom>
          <a:noFill/>
          <a:ln w="50800">
            <a:solidFill>
              <a:srgbClr val="8B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9700" y="3967485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Estimated inventory value ≠ actual sales.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is selling price × available stock.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48400" y="4739642"/>
            <a:ext cx="52847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Naming these limits is part of responsible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B1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8B4DFF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51003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7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MAIN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977392"/>
            <a:ext cx="225851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3132534" y="2039627"/>
            <a:ext cx="35766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398" y="1977392"/>
            <a:ext cx="89495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537551" y="2039627"/>
            <a:ext cx="35766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71415" y="1977392"/>
            <a:ext cx="444198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Useful Information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9411018" y="2039627"/>
            <a:ext cx="35766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2800" y="2726692"/>
            <a:ext cx="390034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500" b="1" dirty="0">
                <a:solidFill>
                  <a:srgbClr val="8B4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Insight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812800" y="3602992"/>
            <a:ext cx="9156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D8C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analytics isn't just writing queries — it's asking the right questions and explaining the answers clearly.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4425950"/>
            <a:ext cx="762000" cy="25400"/>
          </a:xfrm>
          <a:prstGeom prst="rect">
            <a:avLst/>
          </a:prstGeom>
          <a:solidFill>
            <a:srgbClr val="8B4D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4705350"/>
            <a:ext cx="53944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kern="0" spc="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MOHD AHMED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2800" y="5099050"/>
            <a:ext cx="53944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BE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Scientist  ·  SQL • Data Analytics • Business Intelligence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1562</Words>
  <Application>Microsoft Office PowerPoint</Application>
  <PresentationFormat>Widescreen</PresentationFormat>
  <Paragraphs>429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JetBrains Mono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Inventory &amp; Pricing Analytics</dc:title>
  <dc:subject>PptxGenJS Presentation</dc:subject>
  <dc:creator>PptxGenJS</dc:creator>
  <cp:lastModifiedBy>mr venom</cp:lastModifiedBy>
  <cp:revision>2</cp:revision>
  <dcterms:created xsi:type="dcterms:W3CDTF">2026-09-22T04:19:57Z</dcterms:created>
  <dcterms:modified xsi:type="dcterms:W3CDTF">2026-09-22T04:24:33Z</dcterms:modified>
</cp:coreProperties>
</file>